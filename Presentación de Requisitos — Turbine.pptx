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616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Voy a presentar el análisis de requisitos de Turbine, una aplicación administrativa interna para automatizar y controlar la facturación y los procesos administrativos de la empresa. Veremos los cuatro grandes grupos de requisitos: negocio, usuario, funcionales y no funcionales, y cómo se relacionan entre sí.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Turbine necesita centralizar y automatizar seis áreas que hoy requieren mucho trabajo administrativo: gestión de clientes, facturación, cobros, impagos, notificaciones y seguimiento. El objetivo principal es automatizar los procesos repetitivos de facturación, pero sin perder el control humano sobre las decisiones económicas importantes. El flujo inferior resume el ciclo completo: cliente, facturación, envío, cobro y seguimiento.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Hemos organizado los requisitos en cuatro grupos. Los de negocio dicen qué necesita Turbine como empresa. Los de usuario, qué esperan poder hacer los distintos empleados. Los funcionales, qué debe implementar el sistema. Y los no funcionales, cómo debe comportarse. No son listas independientes: cada grupo parte del anterior, y lo veremos con un ejemplo en la diapositiva de trazabilidad.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de negocio son las reglas, necesidades y restricciones que Turbine debe cumplir, sea quien sea el empleado que use el sistema. Los hemos agrupado en seis áreas. No los vamos a ver todos: estos seis ejemplos son los más representativos. Por ejemplo, RNG-10 establece que una factura emitida nunca se elimina, sino que se corrige mediante rectificaciones; RNC-06 exige aprobación para determinados cambios económicos; y RNL-01 obliga a auditar las operaciones críticas. La columna de área es una agrupación orientativa de estos ejemplos.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Turbine tiene tres perfiles organizados en jerarquía. El Superadministrador incluye todo lo del Administrador y añade la configuración global: tarifas, series de facturación, permisos y umbrales, y recibe información de los movimientos importantes. El Administrador tiene acceso global a los clientes, gestiona asignaciones y permisos, consulta movimientos e impagos y puede aprobar determinadas operaciones. El Usuario Operativo trabaja con los clientes que tiene asignados, consulta y genera facturas según sus permisos, recibe notificaciones y tiene funciones limitadas por los administradores. Los identificadores de los requisitos de cada perfil comienzan por URU, URA y URS respectivamente.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requisitos funcionales, que describen qué debe implementar el sistema. Empezamos por el núcleo. En clientes: crear y modificar clientes (CLI-01), varias personas de contacto por empresa (CLI-02), detección de posibles duplicados (CLI-04) y una relación comercial independiente de las facturas (SUB-01). En facturación: facturas recurrentes y puntuales (FAC-01), numeración única (FAC-04), vista previa antes de emitir (FAC-05), rectificaciones y notas de crédito (FAC-06) y generación automática mensual (GEN-01). A la derecha, el flujo básico: del cliente a la emisión, pasando por la relación comercial, la generación y la revisión.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bloque funcional. En cobros, PAG-01 prevé una integración simulada con Stripe y PAG-02 la conciliación de movimientos bancarios: el sistema detecta diferencias de importe, concilia automáticamente cuando la coincidencia es clara y deja la revisión manual para los casos dudosos; así se mantiene el control humano. En comunicación, ENV-01 envía las facturas automáticamente, con el correo como canal principal y WhatsApp como complementario, y con plantillas en español e inglés. ENV-03 gestiona los correos rebotados y REC-01 genera recordatorios automáticos de pago e impago. Abajo, el ciclo completo: factura, envío, recordatorio, pago y conciliación.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bloque funcional: las funciones transversales que dan control y automatización a todo el sistema. Un dashboard de trabajo diario (DAS-01), informes filtrables y exportables (INF-01), búsqueda global (BUS-01), importación de datos por CSV, gestión de usuarios con autorización basada en los tres perfiles (USU-02), auditoría no editable (AUD-01), una API documentada (API-01), control del estado de los procesos automáticos (PRO-01) y copias de seguridad. Importación CSV y copias de seguridad aparecen como funciones transversales sin identificador destacado en esta presentación.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requisitos no funcionales no dicen qué hace el sistema, sino cómo debe comportarse. Los hemos agrupado en seis categorías. Arriba, las de calidad de uso: rendimiento y mantenibilidad, portabilidad y escalabilidad, y accesibilidad y adaptación. Abajo, las de fiabilidad y cumplimiento: integridad y trazabilidad, con registro de operaciones, copias de seguridad, prevención de duplicados, precisión en importes y reintentos seguros; seguridad, con caducidad de sesión, control de permisos, comunicaciones cifradas, contraseñas y documentos protegidos; y legislación, sobre conservación y eliminación de datos conforme a la normativa.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demuestra que los cuatro tipos de requisitos no son listas independientes. Primer ejemplo: Turbine necesita controlar quién puede hacer determinadas operaciones; eso se traduce en que el administrador espera gestionar los permisos; el requisito funcional USU-02 lo implementa con un sistema centralizado de roles y autorización; y SEG-02 exige que cada usuario solo acceda o descargue aquello para lo que tenga permiso. Segundo ejemplo: RNG-10 establece que una factura emitida no se elimina; el usuario necesita corregirla sin borrarla; FAC-06 ofrece rectificaciones y notas de crédito; y la integridad y trazabilidad exigen que quede registro de las operaciones. El requisito de usuario del segundo ejemplo es una formulación orientativa.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funcionamiento principal del sistema, que une los requisitos vistos. Se da de alta al cliente, se configura su relación comercial y su tarifa y se genera la factura. Si es necesario, hay una revisión o aprobación humana antes de emitirla y enviarla. Después vienen los recordatorios, el cobro, la conciliación y, por último, el registro y la auditoría. En paralelo, cinco elementos transversales afectan a todo el recorrido: roles y permisos, notificaciones, auditoría, seguridad y automatización.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cuatro ideas. Automatización, para reducir el trabajo administrativo repetitivo. Control, manteniendo la aprobación humana en las operaciones sensibles. Trazabilidad, registrando facturas, pagos, cambios y acciones. Y seguridad y escalabilidad, para construir un sistema fiable y preparado para crecer. Los requisitos permiten definir una aplicación que combina automatización, control humano, trazabilidad y seguridad. Muchas gracias; quedo a disposición de las preguntas.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8750"/>
            <a:ext cx="10566400" cy="421645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7692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28750"/>
            <a:ext cx="10566400" cy="421645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4440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B84B"/>
                </a:solidFill>
                <a:latin typeface="Arial" pitchFamily="34" charset="0"/>
                <a:ea typeface="Arial" pitchFamily="34" charset="-122"/>
                <a:cs typeface="Arial" pitchFamily="34" charset="-120"/>
              </a:rPr>
              <a:t>ANÁLISIS Y DISEÑO DE APLICACIONES</a:t>
            </a:r>
            <a:endParaRPr lang="en-US" sz="1400" dirty="0"/>
          </a:p>
        </p:txBody>
      </p:sp>
      <p:sp>
        <p:nvSpPr>
          <p:cNvPr id="3" name="Text 1"/>
          <p:cNvSpPr>
            <a:spLocks noGrp="1"/>
          </p:cNvSpPr>
          <p:nvPr>
            <p:ph type="title"/>
          </p:nvPr>
        </p:nvSpPr>
        <p:spPr>
          <a:xfrm>
            <a:off x="812800" y="1921520"/>
            <a:ext cx="10883392" cy="1465560"/>
          </a:xfrm>
          <a:prstGeom prst="rect">
            <a:avLst/>
          </a:prstGeom>
          <a:noFill/>
          <a:ln/>
        </p:spPr>
        <p:txBody>
          <a:bodyPr wrap="square" lIns="0" tIns="0" rIns="0" bIns="0" rtlCol="0" anchor="t">
            <a:normAutofit/>
          </a:bodyPr>
          <a:lstStyle/>
          <a:p>
            <a:pPr marL="0" indent="0" algn="l">
              <a:lnSpc>
                <a:spcPts val="5670"/>
              </a:lnSpc>
              <a:buNone/>
            </a:pPr>
            <a:r>
              <a:rPr lang="en-US" sz="5400" b="1" i="0" dirty="0">
                <a:solidFill>
                  <a:srgbClr val="F7F6F2"/>
                </a:solidFill>
                <a:latin typeface="Georgia" pitchFamily="18" charset="0"/>
                <a:ea typeface="Georgia" pitchFamily="18" charset="-122"/>
                <a:cs typeface="Georgia" pitchFamily="18" charset="-120"/>
              </a:rPr>
              <a:t>Análisis de Requisitos — Turbine</a:t>
            </a:r>
            <a:endParaRPr lang="en-US" sz="5400" dirty="0"/>
          </a:p>
        </p:txBody>
      </p:sp>
      <p:sp>
        <p:nvSpPr>
          <p:cNvPr id="4" name="Shape 2"/>
          <p:cNvSpPr/>
          <p:nvPr/>
        </p:nvSpPr>
        <p:spPr>
          <a:xfrm>
            <a:off x="812800" y="3590280"/>
            <a:ext cx="1016000" cy="50800"/>
          </a:xfrm>
          <a:prstGeom prst="rect">
            <a:avLst/>
          </a:prstGeom>
          <a:solidFill>
            <a:srgbClr val="E08A1E"/>
          </a:solidFill>
          <a:ln/>
        </p:spPr>
        <p:txBody>
          <a:bodyPr/>
          <a:lstStyle/>
          <a:p>
            <a:endParaRPr lang="es-ES"/>
          </a:p>
        </p:txBody>
      </p:sp>
      <p:sp>
        <p:nvSpPr>
          <p:cNvPr id="5" name="Text 3"/>
          <p:cNvSpPr/>
          <p:nvPr/>
        </p:nvSpPr>
        <p:spPr>
          <a:xfrm>
            <a:off x="812800" y="3869680"/>
            <a:ext cx="10883392"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D5DEEA"/>
                </a:solidFill>
                <a:latin typeface="Arial" pitchFamily="34" charset="0"/>
                <a:ea typeface="Arial" pitchFamily="34" charset="-122"/>
                <a:cs typeface="Arial" pitchFamily="34" charset="-120"/>
              </a:rPr>
              <a:t>Aplicación administrativa y de gestión de facturación</a:t>
            </a:r>
            <a:endParaRPr lang="en-US" sz="2200" dirty="0"/>
          </a:p>
        </p:txBody>
      </p:sp>
      <p:sp>
        <p:nvSpPr>
          <p:cNvPr id="6" name="Text 4"/>
          <p:cNvSpPr/>
          <p:nvPr/>
        </p:nvSpPr>
        <p:spPr>
          <a:xfrm>
            <a:off x="812800" y="471547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9FB1C8"/>
                </a:solidFill>
                <a:latin typeface="Arial" pitchFamily="34" charset="0"/>
                <a:ea typeface="Arial" pitchFamily="34" charset="-122"/>
                <a:cs typeface="Arial" pitchFamily="34" charset="-120"/>
              </a:rPr>
              <a:t>CUATRO GRUPOS DE REQUISITOS</a:t>
            </a:r>
            <a:endParaRPr lang="en-US" sz="1200" dirty="0"/>
          </a:p>
        </p:txBody>
      </p:sp>
      <p:sp>
        <p:nvSpPr>
          <p:cNvPr id="7" name="Text 5"/>
          <p:cNvSpPr/>
          <p:nvPr/>
        </p:nvSpPr>
        <p:spPr>
          <a:xfrm>
            <a:off x="819150" y="5036741"/>
            <a:ext cx="92328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Negocio</a:t>
            </a:r>
            <a:endParaRPr lang="en-US" sz="1300" dirty="0"/>
          </a:p>
        </p:txBody>
      </p:sp>
      <p:sp>
        <p:nvSpPr>
          <p:cNvPr id="8" name="Text 6"/>
          <p:cNvSpPr/>
          <p:nvPr/>
        </p:nvSpPr>
        <p:spPr>
          <a:xfrm>
            <a:off x="1856730" y="5036741"/>
            <a:ext cx="88642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Usuario</a:t>
            </a:r>
            <a:endParaRPr lang="en-US" sz="1300" dirty="0"/>
          </a:p>
        </p:txBody>
      </p:sp>
      <p:sp>
        <p:nvSpPr>
          <p:cNvPr id="9" name="Text 7"/>
          <p:cNvSpPr/>
          <p:nvPr/>
        </p:nvSpPr>
        <p:spPr>
          <a:xfrm>
            <a:off x="2857450" y="5036741"/>
            <a:ext cx="120774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Funcionales</a:t>
            </a:r>
            <a:endParaRPr lang="en-US" sz="1300" dirty="0"/>
          </a:p>
        </p:txBody>
      </p:sp>
      <p:sp>
        <p:nvSpPr>
          <p:cNvPr id="10" name="Text 8"/>
          <p:cNvSpPr/>
          <p:nvPr/>
        </p:nvSpPr>
        <p:spPr>
          <a:xfrm>
            <a:off x="4179491" y="5036741"/>
            <a:ext cx="1409700" cy="370830"/>
          </a:xfrm>
          <a:prstGeom prst="roundRect">
            <a:avLst>
              <a:gd name="adj" fmla="val 50000"/>
            </a:avLst>
          </a:prstGeom>
          <a:noFill/>
          <a:ln w="12700">
            <a:solidFill>
              <a:srgbClr val="5F7799"/>
            </a:solidFill>
            <a:prstDash val="solid"/>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No funcionales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A5"/>
                </a:solidFill>
                <a:latin typeface="Arial" pitchFamily="34" charset="0"/>
                <a:ea typeface="Arial" pitchFamily="34" charset="-122"/>
                <a:cs typeface="Arial" pitchFamily="34" charset="-120"/>
              </a:rPr>
              <a:t>CONTEXTO</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Problema y objetivo del sistema</a:t>
            </a:r>
            <a:endParaRPr lang="en-US" sz="3200" dirty="0"/>
          </a:p>
        </p:txBody>
      </p:sp>
      <p:sp>
        <p:nvSpPr>
          <p:cNvPr id="4" name="Text 2"/>
          <p:cNvSpPr/>
          <p:nvPr/>
        </p:nvSpPr>
        <p:spPr>
          <a:xfrm>
            <a:off x="815975" y="1730325"/>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Gestión de clientes</a:t>
            </a:r>
            <a:endParaRPr lang="en-US" sz="1400" dirty="0"/>
          </a:p>
        </p:txBody>
      </p:sp>
      <p:sp>
        <p:nvSpPr>
          <p:cNvPr id="5" name="Text 3"/>
          <p:cNvSpPr/>
          <p:nvPr/>
        </p:nvSpPr>
        <p:spPr>
          <a:xfrm>
            <a:off x="4371975" y="1730325"/>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Facturación</a:t>
            </a:r>
            <a:endParaRPr lang="en-US" sz="1400" dirty="0"/>
          </a:p>
        </p:txBody>
      </p:sp>
      <p:sp>
        <p:nvSpPr>
          <p:cNvPr id="6" name="Text 4"/>
          <p:cNvSpPr/>
          <p:nvPr/>
        </p:nvSpPr>
        <p:spPr>
          <a:xfrm>
            <a:off x="7927975" y="1730325"/>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Cobros</a:t>
            </a:r>
            <a:endParaRPr lang="en-US" sz="1400" dirty="0"/>
          </a:p>
        </p:txBody>
      </p:sp>
      <p:sp>
        <p:nvSpPr>
          <p:cNvPr id="7" name="Text 5"/>
          <p:cNvSpPr/>
          <p:nvPr/>
        </p:nvSpPr>
        <p:spPr>
          <a:xfrm>
            <a:off x="815975" y="2347516"/>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Impagos</a:t>
            </a:r>
            <a:endParaRPr lang="en-US" sz="1400" dirty="0"/>
          </a:p>
        </p:txBody>
      </p:sp>
      <p:sp>
        <p:nvSpPr>
          <p:cNvPr id="8" name="Text 6"/>
          <p:cNvSpPr/>
          <p:nvPr/>
        </p:nvSpPr>
        <p:spPr>
          <a:xfrm>
            <a:off x="4371975" y="2347516"/>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Notificaciones</a:t>
            </a:r>
            <a:endParaRPr lang="en-US" sz="1400" dirty="0"/>
          </a:p>
        </p:txBody>
      </p:sp>
      <p:sp>
        <p:nvSpPr>
          <p:cNvPr id="9" name="Text 7"/>
          <p:cNvSpPr/>
          <p:nvPr/>
        </p:nvSpPr>
        <p:spPr>
          <a:xfrm>
            <a:off x="7927975" y="2347516"/>
            <a:ext cx="3448050" cy="509240"/>
          </a:xfrm>
          <a:prstGeom prst="roundRect">
            <a:avLst>
              <a:gd name="adj" fmla="val 14340"/>
            </a:avLst>
          </a:prstGeom>
          <a:solidFill>
            <a:srgbClr val="FDFDFB"/>
          </a:solidFill>
          <a:ln w="6350">
            <a:solidFill>
              <a:srgbClr val="D5DCE4"/>
            </a:solidFill>
            <a:prstDash val="solid"/>
          </a:ln>
        </p:spPr>
        <p:txBody>
          <a:bodyPr wrap="square" lIns="134187" tIns="108787" rIns="40080" bIns="83387"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Seguimiento administrativo</a:t>
            </a:r>
            <a:endParaRPr lang="en-US" sz="1400" dirty="0"/>
          </a:p>
        </p:txBody>
      </p:sp>
      <p:sp>
        <p:nvSpPr>
          <p:cNvPr id="10" name="Shape 8"/>
          <p:cNvSpPr/>
          <p:nvPr/>
        </p:nvSpPr>
        <p:spPr>
          <a:xfrm>
            <a:off x="812800" y="3063131"/>
            <a:ext cx="10566400" cy="1253430"/>
          </a:xfrm>
          <a:prstGeom prst="roundRect">
            <a:avLst>
              <a:gd name="adj" fmla="val 8106"/>
            </a:avLst>
          </a:prstGeom>
          <a:solidFill>
            <a:srgbClr val="14213D"/>
          </a:solidFill>
          <a:ln/>
        </p:spPr>
        <p:txBody>
          <a:bodyPr/>
          <a:lstStyle/>
          <a:p>
            <a:endParaRPr lang="es-ES"/>
          </a:p>
        </p:txBody>
      </p:sp>
      <p:sp>
        <p:nvSpPr>
          <p:cNvPr id="11" name="Text 9"/>
          <p:cNvSpPr/>
          <p:nvPr/>
        </p:nvSpPr>
        <p:spPr>
          <a:xfrm>
            <a:off x="1117600" y="3266331"/>
            <a:ext cx="1025550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B84B"/>
                </a:solidFill>
                <a:latin typeface="Arial" pitchFamily="34" charset="0"/>
                <a:ea typeface="Arial" pitchFamily="34" charset="-122"/>
                <a:cs typeface="Arial" pitchFamily="34" charset="-120"/>
              </a:rPr>
              <a:t>OBJETIVO PRINCIPAL</a:t>
            </a:r>
            <a:endParaRPr lang="en-US" sz="1200" dirty="0"/>
          </a:p>
        </p:txBody>
      </p:sp>
      <p:sp>
        <p:nvSpPr>
          <p:cNvPr id="12" name="Text 10"/>
          <p:cNvSpPr/>
          <p:nvPr/>
        </p:nvSpPr>
        <p:spPr>
          <a:xfrm>
            <a:off x="1117600" y="3530451"/>
            <a:ext cx="10255504" cy="60831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7F6F2"/>
                </a:solidFill>
                <a:latin typeface="Arial" pitchFamily="34" charset="0"/>
                <a:ea typeface="Arial" pitchFamily="34" charset="-122"/>
                <a:cs typeface="Arial" pitchFamily="34" charset="-120"/>
              </a:rPr>
              <a:t>Automatizar los procesos repetitivos de facturación manteniendo control humano sobre las decisiones económicas importantes.</a:t>
            </a:r>
            <a:endParaRPr lang="en-US" sz="1700" dirty="0"/>
          </a:p>
        </p:txBody>
      </p:sp>
      <p:sp>
        <p:nvSpPr>
          <p:cNvPr id="13" name="Text 11"/>
          <p:cNvSpPr/>
          <p:nvPr/>
        </p:nvSpPr>
        <p:spPr>
          <a:xfrm>
            <a:off x="812800" y="451976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Ciclo que Turbine centraliza y automatiza</a:t>
            </a:r>
            <a:endParaRPr lang="en-US" sz="1200" dirty="0"/>
          </a:p>
        </p:txBody>
      </p:sp>
      <p:sp>
        <p:nvSpPr>
          <p:cNvPr id="14" name="Text 12"/>
          <p:cNvSpPr/>
          <p:nvPr/>
        </p:nvSpPr>
        <p:spPr>
          <a:xfrm>
            <a:off x="819150" y="4815632"/>
            <a:ext cx="177542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Cliente</a:t>
            </a:r>
            <a:endParaRPr lang="en-US" sz="1400" dirty="0"/>
          </a:p>
        </p:txBody>
      </p:sp>
      <p:pic>
        <p:nvPicPr>
          <p:cNvPr id="15" name="Image 0" descr="arrow-right"/>
          <p:cNvPicPr>
            <a:picLocks noChangeAspect="1"/>
          </p:cNvPicPr>
          <p:nvPr/>
        </p:nvPicPr>
        <p:blipFill>
          <a:blip r:embed="rId3"/>
          <a:srcRect/>
          <a:stretch/>
        </p:blipFill>
        <p:spPr>
          <a:xfrm>
            <a:off x="2677120" y="4984502"/>
            <a:ext cx="254000" cy="152400"/>
          </a:xfrm>
          <a:prstGeom prst="rect">
            <a:avLst/>
          </a:prstGeom>
        </p:spPr>
      </p:pic>
      <p:sp>
        <p:nvSpPr>
          <p:cNvPr id="16" name="Text 13"/>
          <p:cNvSpPr/>
          <p:nvPr/>
        </p:nvSpPr>
        <p:spPr>
          <a:xfrm>
            <a:off x="301367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Facturación</a:t>
            </a:r>
            <a:endParaRPr lang="en-US" sz="1400" dirty="0"/>
          </a:p>
        </p:txBody>
      </p:sp>
      <p:pic>
        <p:nvPicPr>
          <p:cNvPr id="17" name="Image 1" descr="arrow-right"/>
          <p:cNvPicPr>
            <a:picLocks noChangeAspect="1"/>
          </p:cNvPicPr>
          <p:nvPr/>
        </p:nvPicPr>
        <p:blipFill>
          <a:blip r:embed="rId3"/>
          <a:srcRect/>
          <a:stretch/>
        </p:blipFill>
        <p:spPr>
          <a:xfrm>
            <a:off x="4871690" y="4984502"/>
            <a:ext cx="254000" cy="152400"/>
          </a:xfrm>
          <a:prstGeom prst="rect">
            <a:avLst/>
          </a:prstGeom>
        </p:spPr>
      </p:pic>
      <p:sp>
        <p:nvSpPr>
          <p:cNvPr id="18" name="Text 14"/>
          <p:cNvSpPr/>
          <p:nvPr/>
        </p:nvSpPr>
        <p:spPr>
          <a:xfrm>
            <a:off x="520824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Envío</a:t>
            </a:r>
            <a:endParaRPr lang="en-US" sz="1400" dirty="0"/>
          </a:p>
        </p:txBody>
      </p:sp>
      <p:pic>
        <p:nvPicPr>
          <p:cNvPr id="19" name="Image 2" descr="arrow-right"/>
          <p:cNvPicPr>
            <a:picLocks noChangeAspect="1"/>
          </p:cNvPicPr>
          <p:nvPr/>
        </p:nvPicPr>
        <p:blipFill>
          <a:blip r:embed="rId3"/>
          <a:srcRect/>
          <a:stretch/>
        </p:blipFill>
        <p:spPr>
          <a:xfrm>
            <a:off x="7066260" y="4984502"/>
            <a:ext cx="254000" cy="152400"/>
          </a:xfrm>
          <a:prstGeom prst="rect">
            <a:avLst/>
          </a:prstGeom>
        </p:spPr>
      </p:pic>
      <p:sp>
        <p:nvSpPr>
          <p:cNvPr id="20" name="Text 15"/>
          <p:cNvSpPr/>
          <p:nvPr/>
        </p:nvSpPr>
        <p:spPr>
          <a:xfrm>
            <a:off x="740281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Cobro</a:t>
            </a:r>
            <a:endParaRPr lang="en-US" sz="1400" dirty="0"/>
          </a:p>
        </p:txBody>
      </p:sp>
      <p:pic>
        <p:nvPicPr>
          <p:cNvPr id="21" name="Image 3" descr="arrow-right"/>
          <p:cNvPicPr>
            <a:picLocks noChangeAspect="1"/>
          </p:cNvPicPr>
          <p:nvPr/>
        </p:nvPicPr>
        <p:blipFill>
          <a:blip r:embed="rId3"/>
          <a:srcRect/>
          <a:stretch/>
        </p:blipFill>
        <p:spPr>
          <a:xfrm>
            <a:off x="9260830" y="4984502"/>
            <a:ext cx="254000" cy="152400"/>
          </a:xfrm>
          <a:prstGeom prst="rect">
            <a:avLst/>
          </a:prstGeom>
        </p:spPr>
      </p:pic>
      <p:sp>
        <p:nvSpPr>
          <p:cNvPr id="22" name="Text 16"/>
          <p:cNvSpPr/>
          <p:nvPr/>
        </p:nvSpPr>
        <p:spPr>
          <a:xfrm>
            <a:off x="9597380" y="4815632"/>
            <a:ext cx="177547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Seguimiento</a:t>
            </a:r>
            <a:endParaRPr lang="en-US" sz="1400" dirty="0"/>
          </a:p>
        </p:txBody>
      </p:sp>
      <p:sp>
        <p:nvSpPr>
          <p:cNvPr id="23" name="Text 1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24"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A5"/>
                </a:solidFill>
                <a:latin typeface="Arial" pitchFamily="34" charset="0"/>
                <a:ea typeface="Arial" pitchFamily="34" charset="-122"/>
                <a:cs typeface="Arial" pitchFamily="34" charset="-120"/>
              </a:rPr>
              <a:t>MARCO DEL ANÁLISIS</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Clasificación de los requisitos</a:t>
            </a:r>
            <a:endParaRPr lang="en-US" sz="3200" dirty="0"/>
          </a:p>
        </p:txBody>
      </p:sp>
      <p:sp>
        <p:nvSpPr>
          <p:cNvPr id="4" name="Shape 2"/>
          <p:cNvSpPr/>
          <p:nvPr/>
        </p:nvSpPr>
        <p:spPr>
          <a:xfrm>
            <a:off x="812800" y="1752550"/>
            <a:ext cx="2298700" cy="2040682"/>
          </a:xfrm>
          <a:prstGeom prst="roundRect">
            <a:avLst>
              <a:gd name="adj" fmla="val 3734"/>
            </a:avLst>
          </a:prstGeom>
          <a:solidFill>
            <a:srgbClr val="FDFDFB"/>
          </a:solidFill>
          <a:ln/>
        </p:spPr>
        <p:txBody>
          <a:bodyPr/>
          <a:lstStyle/>
          <a:p>
            <a:endParaRPr lang="es-ES"/>
          </a:p>
        </p:txBody>
      </p:sp>
      <p:sp>
        <p:nvSpPr>
          <p:cNvPr id="5" name="Shape 3"/>
          <p:cNvSpPr/>
          <p:nvPr/>
        </p:nvSpPr>
        <p:spPr>
          <a:xfrm>
            <a:off x="812800" y="1752550"/>
            <a:ext cx="2298700" cy="2040682"/>
          </a:xfrm>
          <a:custGeom>
            <a:avLst/>
            <a:gdLst/>
            <a:ahLst/>
            <a:cxnLst/>
            <a:rect l="l" t="t" r="r" b="b"/>
            <a:pathLst>
              <a:path w="2298700" h="2040682">
                <a:moveTo>
                  <a:pt x="0" y="76200"/>
                </a:moveTo>
                <a:lnTo>
                  <a:pt x="0" y="76200"/>
                </a:lnTo>
                <a:arcTo wR="76200" hR="76200" stAng="10800000" swAng="5400000"/>
                <a:lnTo>
                  <a:pt x="2222500" y="0"/>
                </a:lnTo>
                <a:arcTo wR="76200" hR="76200" stAng="16200000" swAng="5400000"/>
                <a:lnTo>
                  <a:pt x="2298700" y="76200"/>
                </a:lnTo>
                <a:arcTo wR="76200" hR="25400" stAng="0" swAng="-5400000"/>
                <a:lnTo>
                  <a:pt x="76200" y="50800"/>
                </a:lnTo>
                <a:arcTo wR="76200" hR="25400" stAng="16200000" swAng="-5400000"/>
                <a:close/>
              </a:path>
            </a:pathLst>
          </a:custGeom>
          <a:solidFill>
            <a:srgbClr val="1D6FA5"/>
          </a:solidFill>
          <a:ln/>
        </p:spPr>
        <p:txBody>
          <a:bodyPr/>
          <a:lstStyle/>
          <a:p>
            <a:endParaRPr lang="es-ES"/>
          </a:p>
        </p:txBody>
      </p:sp>
      <p:sp>
        <p:nvSpPr>
          <p:cNvPr id="6" name="Text 4"/>
          <p:cNvSpPr/>
          <p:nvPr/>
        </p:nvSpPr>
        <p:spPr>
          <a:xfrm>
            <a:off x="965200" y="1981150"/>
            <a:ext cx="20537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65200" y="2283371"/>
            <a:ext cx="2053717" cy="528241"/>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Requisitos de negocio</a:t>
            </a:r>
            <a:endParaRPr lang="en-US" sz="1800" dirty="0"/>
          </a:p>
        </p:txBody>
      </p:sp>
      <p:sp>
        <p:nvSpPr>
          <p:cNvPr id="8" name="Text 6"/>
          <p:cNvSpPr/>
          <p:nvPr/>
        </p:nvSpPr>
        <p:spPr>
          <a:xfrm>
            <a:off x="965200" y="2875111"/>
            <a:ext cx="205371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¿Qué necesita Turbine como empresa?</a:t>
            </a:r>
            <a:endParaRPr lang="en-US" sz="1300" dirty="0"/>
          </a:p>
        </p:txBody>
      </p:sp>
      <p:sp>
        <p:nvSpPr>
          <p:cNvPr id="9" name="Text 7"/>
          <p:cNvSpPr/>
          <p:nvPr/>
        </p:nvSpPr>
        <p:spPr>
          <a:xfrm>
            <a:off x="965200" y="3409702"/>
            <a:ext cx="205371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B7F"/>
                </a:solidFill>
                <a:latin typeface="Arial" pitchFamily="34" charset="0"/>
                <a:ea typeface="Arial" pitchFamily="34" charset="-122"/>
                <a:cs typeface="Arial" pitchFamily="34" charset="-120"/>
              </a:rPr>
              <a:t>Prefijos RNG · RNC · RNL</a:t>
            </a:r>
            <a:endParaRPr lang="en-US" sz="1200" dirty="0"/>
          </a:p>
        </p:txBody>
      </p:sp>
      <p:pic>
        <p:nvPicPr>
          <p:cNvPr id="10" name="Image 0" descr="arrow-right"/>
          <p:cNvPicPr>
            <a:picLocks noChangeAspect="1"/>
          </p:cNvPicPr>
          <p:nvPr/>
        </p:nvPicPr>
        <p:blipFill>
          <a:blip r:embed="rId3"/>
          <a:srcRect/>
          <a:stretch/>
        </p:blipFill>
        <p:spPr>
          <a:xfrm>
            <a:off x="3213100" y="2696666"/>
            <a:ext cx="254000" cy="152400"/>
          </a:xfrm>
          <a:prstGeom prst="rect">
            <a:avLst/>
          </a:prstGeom>
        </p:spPr>
      </p:pic>
      <p:sp>
        <p:nvSpPr>
          <p:cNvPr id="11" name="Shape 8"/>
          <p:cNvSpPr/>
          <p:nvPr/>
        </p:nvSpPr>
        <p:spPr>
          <a:xfrm>
            <a:off x="3568700" y="1752550"/>
            <a:ext cx="2298700" cy="2040682"/>
          </a:xfrm>
          <a:prstGeom prst="roundRect">
            <a:avLst>
              <a:gd name="adj" fmla="val 3734"/>
            </a:avLst>
          </a:prstGeom>
          <a:solidFill>
            <a:srgbClr val="FDFDFB"/>
          </a:solidFill>
          <a:ln/>
        </p:spPr>
        <p:txBody>
          <a:bodyPr/>
          <a:lstStyle/>
          <a:p>
            <a:endParaRPr lang="es-ES"/>
          </a:p>
        </p:txBody>
      </p:sp>
      <p:sp>
        <p:nvSpPr>
          <p:cNvPr id="12" name="Shape 9"/>
          <p:cNvSpPr/>
          <p:nvPr/>
        </p:nvSpPr>
        <p:spPr>
          <a:xfrm>
            <a:off x="3568700" y="1752550"/>
            <a:ext cx="2298700" cy="2040682"/>
          </a:xfrm>
          <a:custGeom>
            <a:avLst/>
            <a:gdLst/>
            <a:ahLst/>
            <a:cxnLst/>
            <a:rect l="l" t="t" r="r" b="b"/>
            <a:pathLst>
              <a:path w="2298700" h="2040682">
                <a:moveTo>
                  <a:pt x="0" y="76200"/>
                </a:moveTo>
                <a:lnTo>
                  <a:pt x="0" y="76200"/>
                </a:lnTo>
                <a:arcTo wR="76200" hR="76200" stAng="10800000" swAng="5400000"/>
                <a:lnTo>
                  <a:pt x="2222500" y="0"/>
                </a:lnTo>
                <a:arcTo wR="76200" hR="76200" stAng="16200000" swAng="5400000"/>
                <a:lnTo>
                  <a:pt x="2298700" y="76200"/>
                </a:lnTo>
                <a:arcTo wR="76200" hR="25400" stAng="0" swAng="-5400000"/>
                <a:lnTo>
                  <a:pt x="76200" y="50800"/>
                </a:lnTo>
                <a:arcTo wR="76200" hR="25400" stAng="16200000" swAng="-5400000"/>
                <a:close/>
              </a:path>
            </a:pathLst>
          </a:custGeom>
          <a:solidFill>
            <a:srgbClr val="C2610C"/>
          </a:solidFill>
          <a:ln/>
        </p:spPr>
        <p:txBody>
          <a:bodyPr/>
          <a:lstStyle/>
          <a:p>
            <a:endParaRPr lang="es-ES"/>
          </a:p>
        </p:txBody>
      </p:sp>
      <p:sp>
        <p:nvSpPr>
          <p:cNvPr id="13" name="Text 10"/>
          <p:cNvSpPr/>
          <p:nvPr/>
        </p:nvSpPr>
        <p:spPr>
          <a:xfrm>
            <a:off x="3721100" y="1981150"/>
            <a:ext cx="20537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02</a:t>
            </a:r>
            <a:endParaRPr lang="en-US" sz="1200" dirty="0"/>
          </a:p>
        </p:txBody>
      </p:sp>
      <p:sp>
        <p:nvSpPr>
          <p:cNvPr id="14" name="Text 11"/>
          <p:cNvSpPr/>
          <p:nvPr/>
        </p:nvSpPr>
        <p:spPr>
          <a:xfrm>
            <a:off x="3721100" y="2283371"/>
            <a:ext cx="2053717" cy="528241"/>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Requisitos de usuario</a:t>
            </a:r>
            <a:endParaRPr lang="en-US" sz="1800" dirty="0"/>
          </a:p>
        </p:txBody>
      </p:sp>
      <p:sp>
        <p:nvSpPr>
          <p:cNvPr id="15" name="Text 12"/>
          <p:cNvSpPr/>
          <p:nvPr/>
        </p:nvSpPr>
        <p:spPr>
          <a:xfrm>
            <a:off x="3721100" y="2875111"/>
            <a:ext cx="205371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¿Qué esperan poder hacer los distintos empleados?</a:t>
            </a:r>
            <a:endParaRPr lang="en-US" sz="1300" dirty="0"/>
          </a:p>
        </p:txBody>
      </p:sp>
      <p:sp>
        <p:nvSpPr>
          <p:cNvPr id="16" name="Text 13"/>
          <p:cNvSpPr/>
          <p:nvPr/>
        </p:nvSpPr>
        <p:spPr>
          <a:xfrm>
            <a:off x="3721100" y="3409702"/>
            <a:ext cx="205371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B7F"/>
                </a:solidFill>
                <a:latin typeface="Arial" pitchFamily="34" charset="0"/>
                <a:ea typeface="Arial" pitchFamily="34" charset="-122"/>
                <a:cs typeface="Arial" pitchFamily="34" charset="-120"/>
              </a:rPr>
              <a:t>Prefijos URU · URA · URS</a:t>
            </a:r>
            <a:endParaRPr lang="en-US" sz="1200" dirty="0"/>
          </a:p>
        </p:txBody>
      </p:sp>
      <p:pic>
        <p:nvPicPr>
          <p:cNvPr id="17" name="Image 1" descr="arrow-right"/>
          <p:cNvPicPr>
            <a:picLocks noChangeAspect="1"/>
          </p:cNvPicPr>
          <p:nvPr/>
        </p:nvPicPr>
        <p:blipFill>
          <a:blip r:embed="rId3"/>
          <a:srcRect/>
          <a:stretch/>
        </p:blipFill>
        <p:spPr>
          <a:xfrm>
            <a:off x="5969000" y="2696666"/>
            <a:ext cx="254000" cy="152400"/>
          </a:xfrm>
          <a:prstGeom prst="rect">
            <a:avLst/>
          </a:prstGeom>
        </p:spPr>
      </p:pic>
      <p:sp>
        <p:nvSpPr>
          <p:cNvPr id="18" name="Shape 14"/>
          <p:cNvSpPr/>
          <p:nvPr/>
        </p:nvSpPr>
        <p:spPr>
          <a:xfrm>
            <a:off x="6324600" y="1752550"/>
            <a:ext cx="2298700" cy="2040682"/>
          </a:xfrm>
          <a:prstGeom prst="roundRect">
            <a:avLst>
              <a:gd name="adj" fmla="val 3734"/>
            </a:avLst>
          </a:prstGeom>
          <a:solidFill>
            <a:srgbClr val="FDFDFB"/>
          </a:solidFill>
          <a:ln/>
        </p:spPr>
        <p:txBody>
          <a:bodyPr/>
          <a:lstStyle/>
          <a:p>
            <a:endParaRPr lang="es-ES"/>
          </a:p>
        </p:txBody>
      </p:sp>
      <p:sp>
        <p:nvSpPr>
          <p:cNvPr id="19" name="Shape 15"/>
          <p:cNvSpPr/>
          <p:nvPr/>
        </p:nvSpPr>
        <p:spPr>
          <a:xfrm>
            <a:off x="6324600" y="1752550"/>
            <a:ext cx="2298700" cy="2040682"/>
          </a:xfrm>
          <a:custGeom>
            <a:avLst/>
            <a:gdLst/>
            <a:ahLst/>
            <a:cxnLst/>
            <a:rect l="l" t="t" r="r" b="b"/>
            <a:pathLst>
              <a:path w="2298700" h="2040682">
                <a:moveTo>
                  <a:pt x="0" y="76200"/>
                </a:moveTo>
                <a:lnTo>
                  <a:pt x="0" y="76200"/>
                </a:lnTo>
                <a:arcTo wR="76200" hR="76200" stAng="10800000" swAng="5400000"/>
                <a:lnTo>
                  <a:pt x="2222500" y="0"/>
                </a:lnTo>
                <a:arcTo wR="76200" hR="76200" stAng="16200000" swAng="5400000"/>
                <a:lnTo>
                  <a:pt x="2298700" y="76200"/>
                </a:lnTo>
                <a:arcTo wR="76200" hR="25400" stAng="0" swAng="-5400000"/>
                <a:lnTo>
                  <a:pt x="76200" y="50800"/>
                </a:lnTo>
                <a:arcTo wR="76200" hR="25400" stAng="16200000" swAng="-5400000"/>
                <a:close/>
              </a:path>
            </a:pathLst>
          </a:custGeom>
          <a:solidFill>
            <a:srgbClr val="14213D"/>
          </a:solidFill>
          <a:ln/>
        </p:spPr>
        <p:txBody>
          <a:bodyPr/>
          <a:lstStyle/>
          <a:p>
            <a:endParaRPr lang="es-ES"/>
          </a:p>
        </p:txBody>
      </p:sp>
      <p:sp>
        <p:nvSpPr>
          <p:cNvPr id="20" name="Text 16"/>
          <p:cNvSpPr/>
          <p:nvPr/>
        </p:nvSpPr>
        <p:spPr>
          <a:xfrm>
            <a:off x="6477000" y="1981150"/>
            <a:ext cx="20537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Arial" pitchFamily="34" charset="0"/>
                <a:ea typeface="Arial" pitchFamily="34" charset="-122"/>
                <a:cs typeface="Arial" pitchFamily="34" charset="-120"/>
              </a:rPr>
              <a:t>03</a:t>
            </a:r>
            <a:endParaRPr lang="en-US" sz="1200" dirty="0"/>
          </a:p>
        </p:txBody>
      </p:sp>
      <p:sp>
        <p:nvSpPr>
          <p:cNvPr id="21" name="Text 17"/>
          <p:cNvSpPr/>
          <p:nvPr/>
        </p:nvSpPr>
        <p:spPr>
          <a:xfrm>
            <a:off x="6477000" y="2283371"/>
            <a:ext cx="2053717" cy="528241"/>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Requisitos funcionales</a:t>
            </a:r>
            <a:endParaRPr lang="en-US" sz="1800" dirty="0"/>
          </a:p>
        </p:txBody>
      </p:sp>
      <p:sp>
        <p:nvSpPr>
          <p:cNvPr id="22" name="Text 18"/>
          <p:cNvSpPr/>
          <p:nvPr/>
        </p:nvSpPr>
        <p:spPr>
          <a:xfrm>
            <a:off x="6477000" y="2875111"/>
            <a:ext cx="205371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¿Qué debe implementar técnicamente el sistema?</a:t>
            </a:r>
            <a:endParaRPr lang="en-US" sz="1300" dirty="0"/>
          </a:p>
        </p:txBody>
      </p:sp>
      <p:sp>
        <p:nvSpPr>
          <p:cNvPr id="23" name="Text 19"/>
          <p:cNvSpPr/>
          <p:nvPr/>
        </p:nvSpPr>
        <p:spPr>
          <a:xfrm>
            <a:off x="6477000" y="3409702"/>
            <a:ext cx="205371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B7F"/>
                </a:solidFill>
                <a:latin typeface="Arial" pitchFamily="34" charset="0"/>
                <a:ea typeface="Arial" pitchFamily="34" charset="-122"/>
                <a:cs typeface="Arial" pitchFamily="34" charset="-120"/>
              </a:rPr>
              <a:t>Ej.: CLI · FAC · PAG · AUD</a:t>
            </a:r>
            <a:endParaRPr lang="en-US" sz="1200" dirty="0"/>
          </a:p>
        </p:txBody>
      </p:sp>
      <p:pic>
        <p:nvPicPr>
          <p:cNvPr id="24" name="Image 2" descr="arrow-right"/>
          <p:cNvPicPr>
            <a:picLocks noChangeAspect="1"/>
          </p:cNvPicPr>
          <p:nvPr/>
        </p:nvPicPr>
        <p:blipFill>
          <a:blip r:embed="rId3"/>
          <a:srcRect/>
          <a:stretch/>
        </p:blipFill>
        <p:spPr>
          <a:xfrm>
            <a:off x="8724900" y="2696666"/>
            <a:ext cx="254000" cy="152400"/>
          </a:xfrm>
          <a:prstGeom prst="rect">
            <a:avLst/>
          </a:prstGeom>
        </p:spPr>
      </p:pic>
      <p:sp>
        <p:nvSpPr>
          <p:cNvPr id="25" name="Shape 20"/>
          <p:cNvSpPr/>
          <p:nvPr/>
        </p:nvSpPr>
        <p:spPr>
          <a:xfrm>
            <a:off x="9080500" y="1752550"/>
            <a:ext cx="2298700" cy="2040682"/>
          </a:xfrm>
          <a:prstGeom prst="roundRect">
            <a:avLst>
              <a:gd name="adj" fmla="val 3734"/>
            </a:avLst>
          </a:prstGeom>
          <a:solidFill>
            <a:srgbClr val="FDFDFB"/>
          </a:solidFill>
          <a:ln/>
        </p:spPr>
        <p:txBody>
          <a:bodyPr/>
          <a:lstStyle/>
          <a:p>
            <a:endParaRPr lang="es-ES"/>
          </a:p>
        </p:txBody>
      </p:sp>
      <p:sp>
        <p:nvSpPr>
          <p:cNvPr id="26" name="Shape 21"/>
          <p:cNvSpPr/>
          <p:nvPr/>
        </p:nvSpPr>
        <p:spPr>
          <a:xfrm>
            <a:off x="9080500" y="1752550"/>
            <a:ext cx="2298700" cy="2040682"/>
          </a:xfrm>
          <a:custGeom>
            <a:avLst/>
            <a:gdLst/>
            <a:ahLst/>
            <a:cxnLst/>
            <a:rect l="l" t="t" r="r" b="b"/>
            <a:pathLst>
              <a:path w="2298700" h="2040682">
                <a:moveTo>
                  <a:pt x="0" y="76200"/>
                </a:moveTo>
                <a:lnTo>
                  <a:pt x="0" y="76200"/>
                </a:lnTo>
                <a:arcTo wR="76200" hR="76200" stAng="10800000" swAng="5400000"/>
                <a:lnTo>
                  <a:pt x="2222500" y="0"/>
                </a:lnTo>
                <a:arcTo wR="76200" hR="76200" stAng="16200000" swAng="5400000"/>
                <a:lnTo>
                  <a:pt x="2298700" y="76200"/>
                </a:lnTo>
                <a:arcTo wR="76200" hR="25400" stAng="0" swAng="-5400000"/>
                <a:lnTo>
                  <a:pt x="76200" y="50800"/>
                </a:lnTo>
                <a:arcTo wR="76200" hR="25400" stAng="16200000" swAng="-5400000"/>
                <a:close/>
              </a:path>
            </a:pathLst>
          </a:custGeom>
          <a:solidFill>
            <a:srgbClr val="5B6B7F"/>
          </a:solidFill>
          <a:ln/>
        </p:spPr>
        <p:txBody>
          <a:bodyPr/>
          <a:lstStyle/>
          <a:p>
            <a:endParaRPr lang="es-ES"/>
          </a:p>
        </p:txBody>
      </p:sp>
      <p:sp>
        <p:nvSpPr>
          <p:cNvPr id="27" name="Text 22"/>
          <p:cNvSpPr/>
          <p:nvPr/>
        </p:nvSpPr>
        <p:spPr>
          <a:xfrm>
            <a:off x="9232900" y="1981150"/>
            <a:ext cx="205371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7F"/>
                </a:solidFill>
                <a:latin typeface="Arial" pitchFamily="34" charset="0"/>
                <a:ea typeface="Arial" pitchFamily="34" charset="-122"/>
                <a:cs typeface="Arial" pitchFamily="34" charset="-120"/>
              </a:rPr>
              <a:t>04</a:t>
            </a:r>
            <a:endParaRPr lang="en-US" sz="1200" dirty="0"/>
          </a:p>
        </p:txBody>
      </p:sp>
      <p:sp>
        <p:nvSpPr>
          <p:cNvPr id="28" name="Text 23"/>
          <p:cNvSpPr/>
          <p:nvPr/>
        </p:nvSpPr>
        <p:spPr>
          <a:xfrm>
            <a:off x="9232900" y="2283371"/>
            <a:ext cx="2053717" cy="528241"/>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Requisitos no funcionales</a:t>
            </a:r>
            <a:endParaRPr lang="en-US" sz="1800" dirty="0"/>
          </a:p>
        </p:txBody>
      </p:sp>
      <p:sp>
        <p:nvSpPr>
          <p:cNvPr id="29" name="Text 24"/>
          <p:cNvSpPr/>
          <p:nvPr/>
        </p:nvSpPr>
        <p:spPr>
          <a:xfrm>
            <a:off x="9232900" y="2875111"/>
            <a:ext cx="205371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¿Cómo debe comportarse el sistema?</a:t>
            </a:r>
            <a:endParaRPr lang="en-US" sz="1300" dirty="0"/>
          </a:p>
        </p:txBody>
      </p:sp>
      <p:sp>
        <p:nvSpPr>
          <p:cNvPr id="30" name="Text 25"/>
          <p:cNvSpPr/>
          <p:nvPr/>
        </p:nvSpPr>
        <p:spPr>
          <a:xfrm>
            <a:off x="9232900" y="3409702"/>
            <a:ext cx="205371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B6B7F"/>
                </a:solidFill>
                <a:latin typeface="Arial" pitchFamily="34" charset="0"/>
                <a:ea typeface="Arial" pitchFamily="34" charset="-122"/>
                <a:cs typeface="Arial" pitchFamily="34" charset="-120"/>
              </a:rPr>
              <a:t>Ej.: SEG-02</a:t>
            </a:r>
            <a:endParaRPr lang="en-US" sz="1200" dirty="0"/>
          </a:p>
        </p:txBody>
      </p:sp>
      <p:sp>
        <p:nvSpPr>
          <p:cNvPr id="31" name="Text 26"/>
          <p:cNvSpPr/>
          <p:nvPr/>
        </p:nvSpPr>
        <p:spPr>
          <a:xfrm>
            <a:off x="812800" y="4021832"/>
            <a:ext cx="10566400" cy="612775"/>
          </a:xfrm>
          <a:prstGeom prst="roundRect">
            <a:avLst>
              <a:gd name="adj" fmla="val 16580"/>
            </a:avLst>
          </a:prstGeom>
          <a:solidFill>
            <a:srgbClr val="14213D"/>
          </a:solidFill>
          <a:ln/>
        </p:spPr>
        <p:txBody>
          <a:bodyPr wrap="square" lIns="224242" tIns="148042" rIns="0" bIns="122642" rtlCol="0" anchor="t">
            <a:normAutofit/>
          </a:bodyPr>
          <a:lstStyle/>
          <a:p>
            <a:pPr marL="0" indent="0" algn="l">
              <a:lnSpc>
                <a:spcPts val="2025"/>
              </a:lnSpc>
              <a:buNone/>
            </a:pPr>
            <a:r>
              <a:rPr lang="en-US" sz="1500" dirty="0">
                <a:solidFill>
                  <a:srgbClr val="F7F6F2"/>
                </a:solidFill>
                <a:latin typeface="Arial" pitchFamily="34" charset="0"/>
                <a:ea typeface="Arial" pitchFamily="34" charset="-122"/>
                <a:cs typeface="Arial" pitchFamily="34" charset="-120"/>
              </a:rPr>
              <a:t>Los cuatro grupos se encadenan: de lo que necesita el negocio a cómo debe comportarse el sistema.</a:t>
            </a:r>
            <a:endParaRPr lang="en-US" sz="1500" dirty="0"/>
          </a:p>
        </p:txBody>
      </p:sp>
      <p:sp>
        <p:nvSpPr>
          <p:cNvPr id="32" name="Text 2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3" name="Text 2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A5"/>
                </a:solidFill>
                <a:latin typeface="Arial" pitchFamily="34" charset="0"/>
                <a:ea typeface="Arial" pitchFamily="34" charset="-122"/>
                <a:cs typeface="Arial" pitchFamily="34" charset="-120"/>
              </a:rPr>
              <a:t>REQUISITOS DE NEGOCIO</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Reglas y necesidades de Turbine</a:t>
            </a:r>
            <a:endParaRPr lang="en-US" sz="3200" dirty="0"/>
          </a:p>
        </p:txBody>
      </p:sp>
      <p:sp>
        <p:nvSpPr>
          <p:cNvPr id="4" name="Text 2"/>
          <p:cNvSpPr/>
          <p:nvPr/>
        </p:nvSpPr>
        <p:spPr>
          <a:xfrm>
            <a:off x="812800" y="17017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F63"/>
                </a:solidFill>
                <a:latin typeface="Arial" pitchFamily="34" charset="0"/>
                <a:ea typeface="Arial" pitchFamily="34" charset="-122"/>
                <a:cs typeface="Arial" pitchFamily="34" charset="-120"/>
              </a:rPr>
              <a:t>Reglas, necesidades y restricciones que Turbine debe cumplir, con independencia de quién use el sistema.</a:t>
            </a:r>
            <a:endParaRPr lang="en-US" sz="1400" dirty="0"/>
          </a:p>
        </p:txBody>
      </p:sp>
      <p:sp>
        <p:nvSpPr>
          <p:cNvPr id="5" name="Text 3"/>
          <p:cNvSpPr/>
          <p:nvPr/>
        </p:nvSpPr>
        <p:spPr>
          <a:xfrm>
            <a:off x="815975" y="2131616"/>
            <a:ext cx="1691184"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marL="0" indent="0" algn="ctr">
              <a:lnSpc>
                <a:spcPts val="1560"/>
              </a:lnSpc>
              <a:buNone/>
            </a:pPr>
            <a:r>
              <a:rPr lang="en-US" sz="1200" b="1" dirty="0">
                <a:solidFill>
                  <a:srgbClr val="14213D"/>
                </a:solidFill>
                <a:latin typeface="Arial" pitchFamily="34" charset="0"/>
                <a:ea typeface="Arial" pitchFamily="34" charset="-122"/>
                <a:cs typeface="Arial" pitchFamily="34" charset="-120"/>
              </a:rPr>
              <a:t>Gestión comercial</a:t>
            </a:r>
            <a:endParaRPr lang="en-US" sz="1200" dirty="0"/>
          </a:p>
        </p:txBody>
      </p:sp>
      <p:sp>
        <p:nvSpPr>
          <p:cNvPr id="6" name="Text 4"/>
          <p:cNvSpPr/>
          <p:nvPr/>
        </p:nvSpPr>
        <p:spPr>
          <a:xfrm>
            <a:off x="2589709"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marL="0" indent="0" algn="ctr">
              <a:lnSpc>
                <a:spcPts val="1560"/>
              </a:lnSpc>
              <a:buNone/>
            </a:pPr>
            <a:r>
              <a:rPr lang="en-US" sz="1200" b="1" dirty="0">
                <a:solidFill>
                  <a:srgbClr val="14213D"/>
                </a:solidFill>
                <a:latin typeface="Arial" pitchFamily="34" charset="0"/>
                <a:ea typeface="Arial" pitchFamily="34" charset="-122"/>
                <a:cs typeface="Arial" pitchFamily="34" charset="-120"/>
              </a:rPr>
              <a:t>Facturación y cobros</a:t>
            </a:r>
            <a:endParaRPr lang="en-US" sz="1200" dirty="0"/>
          </a:p>
        </p:txBody>
      </p:sp>
      <p:sp>
        <p:nvSpPr>
          <p:cNvPr id="7" name="Text 5"/>
          <p:cNvSpPr/>
          <p:nvPr/>
        </p:nvSpPr>
        <p:spPr>
          <a:xfrm>
            <a:off x="4363492" y="2131616"/>
            <a:ext cx="1691184"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marL="0" indent="0" algn="ctr">
              <a:lnSpc>
                <a:spcPts val="1560"/>
              </a:lnSpc>
              <a:buNone/>
            </a:pPr>
            <a:r>
              <a:rPr lang="en-US" sz="1200" b="1" dirty="0">
                <a:solidFill>
                  <a:srgbClr val="14213D"/>
                </a:solidFill>
                <a:latin typeface="Arial" pitchFamily="34" charset="0"/>
                <a:ea typeface="Arial" pitchFamily="34" charset="-122"/>
                <a:cs typeface="Arial" pitchFamily="34" charset="-120"/>
              </a:rPr>
              <a:t>Roles y aprobaciones</a:t>
            </a:r>
            <a:endParaRPr lang="en-US" sz="1200" dirty="0"/>
          </a:p>
        </p:txBody>
      </p:sp>
      <p:sp>
        <p:nvSpPr>
          <p:cNvPr id="8" name="Text 6"/>
          <p:cNvSpPr/>
          <p:nvPr/>
        </p:nvSpPr>
        <p:spPr>
          <a:xfrm>
            <a:off x="6137225"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marL="0" indent="0" algn="ctr">
              <a:lnSpc>
                <a:spcPts val="1560"/>
              </a:lnSpc>
              <a:buNone/>
            </a:pPr>
            <a:r>
              <a:rPr lang="en-US" sz="1200" b="1" dirty="0">
                <a:solidFill>
                  <a:srgbClr val="14213D"/>
                </a:solidFill>
                <a:latin typeface="Arial" pitchFamily="34" charset="0"/>
                <a:ea typeface="Arial" pitchFamily="34" charset="-122"/>
                <a:cs typeface="Arial" pitchFamily="34" charset="-120"/>
              </a:rPr>
              <a:t>Configuración</a:t>
            </a:r>
            <a:endParaRPr lang="en-US" sz="1200" dirty="0"/>
          </a:p>
        </p:txBody>
      </p:sp>
      <p:sp>
        <p:nvSpPr>
          <p:cNvPr id="9" name="Text 7"/>
          <p:cNvSpPr/>
          <p:nvPr/>
        </p:nvSpPr>
        <p:spPr>
          <a:xfrm>
            <a:off x="7911009"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marL="0" indent="0" algn="ctr">
              <a:lnSpc>
                <a:spcPts val="1560"/>
              </a:lnSpc>
              <a:buNone/>
            </a:pPr>
            <a:r>
              <a:rPr lang="en-US" sz="1200" b="1" dirty="0">
                <a:solidFill>
                  <a:srgbClr val="14213D"/>
                </a:solidFill>
                <a:latin typeface="Arial" pitchFamily="34" charset="0"/>
                <a:ea typeface="Arial" pitchFamily="34" charset="-122"/>
                <a:cs typeface="Arial" pitchFamily="34" charset="-120"/>
              </a:rPr>
              <a:t>Comunicación e integraciones</a:t>
            </a:r>
            <a:endParaRPr lang="en-US" sz="1200" dirty="0"/>
          </a:p>
        </p:txBody>
      </p:sp>
      <p:sp>
        <p:nvSpPr>
          <p:cNvPr id="10" name="Text 8"/>
          <p:cNvSpPr/>
          <p:nvPr/>
        </p:nvSpPr>
        <p:spPr>
          <a:xfrm>
            <a:off x="9684792" y="2131616"/>
            <a:ext cx="1691233" cy="580330"/>
          </a:xfrm>
          <a:prstGeom prst="roundRect">
            <a:avLst>
              <a:gd name="adj" fmla="val 12583"/>
            </a:avLst>
          </a:prstGeom>
          <a:solidFill>
            <a:srgbClr val="FDFDFB"/>
          </a:solidFill>
          <a:ln w="6350">
            <a:solidFill>
              <a:srgbClr val="D5DCE4"/>
            </a:solidFill>
            <a:prstDash val="solid"/>
          </a:ln>
        </p:spPr>
        <p:txBody>
          <a:bodyPr wrap="square" lIns="32587" tIns="70687" rIns="32587" bIns="45287" rtlCol="0" anchor="t">
            <a:normAutofit/>
          </a:bodyPr>
          <a:lstStyle/>
          <a:p>
            <a:pPr marL="0" indent="0" algn="ctr">
              <a:lnSpc>
                <a:spcPts val="1560"/>
              </a:lnSpc>
              <a:buNone/>
            </a:pPr>
            <a:r>
              <a:rPr lang="en-US" sz="1200" b="1" dirty="0">
                <a:solidFill>
                  <a:srgbClr val="14213D"/>
                </a:solidFill>
                <a:latin typeface="Arial" pitchFamily="34" charset="0"/>
                <a:ea typeface="Arial" pitchFamily="34" charset="-122"/>
                <a:cs typeface="Arial" pitchFamily="34" charset="-120"/>
              </a:rPr>
              <a:t>Seguridad y continuidad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905621"/>
          <a:ext cx="10553700" cy="2515247"/>
        </p:xfrm>
        <a:graphic>
          <a:graphicData uri="http://schemas.openxmlformats.org/drawingml/2006/table">
            <a:tbl>
              <a:tblPr/>
              <a:tblGrid>
                <a:gridCol w="1477518">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ID</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0B8BF"/>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8BF"/>
                      </a:solidFill>
                      <a:prstDash val="solid"/>
                      <a:round/>
                      <a:headEnd type="none" w="med" len="med"/>
                      <a:tailEnd type="none" w="med" len="med"/>
                    </a:lnB>
                    <a:solidFill>
                      <a:srgbClr val="DCE6F0"/>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Qué establece</a:t>
                      </a:r>
                      <a:endParaRPr lang="en-US" sz="1300" dirty="0">
                        <a:latin typeface="Arial" charset="0"/>
                        <a:ea typeface="Arial" charset="0"/>
                        <a:cs typeface="Arial" charset="0"/>
                      </a:endParaRPr>
                    </a:p>
                  </a:txBody>
                  <a:tcPr marL="57785" marR="57785" marT="57785" marB="57785">
                    <a:lnL w="12700" cap="flat" cmpd="sng" algn="ctr">
                      <a:solidFill>
                        <a:srgbClr val="B0B8BF"/>
                      </a:solidFill>
                      <a:prstDash val="solid"/>
                      <a:round/>
                      <a:headEnd type="none" w="med" len="med"/>
                      <a:tailEnd type="none" w="med" len="med"/>
                    </a:lnL>
                    <a:lnR w="12700" cap="flat" cmpd="sng" algn="ctr">
                      <a:solidFill>
                        <a:srgbClr val="B0B8BF"/>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8BF"/>
                      </a:solidFill>
                      <a:prstDash val="solid"/>
                      <a:round/>
                      <a:headEnd type="none" w="med" len="med"/>
                      <a:tailEnd type="none" w="med" len="med"/>
                    </a:lnB>
                    <a:solidFill>
                      <a:srgbClr val="DCE6F0"/>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Área</a:t>
                      </a:r>
                      <a:endParaRPr lang="en-US" sz="1300" dirty="0">
                        <a:latin typeface="Arial" charset="0"/>
                        <a:ea typeface="Arial" charset="0"/>
                        <a:cs typeface="Arial" charset="0"/>
                      </a:endParaRPr>
                    </a:p>
                  </a:txBody>
                  <a:tcPr marL="57785" marR="57785" marT="57785" marB="57785">
                    <a:lnL w="12700" cap="flat" cmpd="sng" algn="ctr">
                      <a:solidFill>
                        <a:srgbClr val="B0B8BF"/>
                      </a:solidFill>
                      <a:prstDash val="solid"/>
                      <a:round/>
                      <a:headEnd type="none" w="med" len="med"/>
                      <a:tailEnd type="none" w="med" len="med"/>
                    </a:lnL>
                    <a:lnR w="12700" cap="flat" cmpd="sng" algn="ctr">
                      <a:solidFill>
                        <a:srgbClr val="B0B8BF"/>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0B8BF"/>
                      </a:solidFill>
                      <a:prstDash val="solid"/>
                      <a:round/>
                      <a:headEnd type="none" w="med" len="med"/>
                      <a:tailEnd type="none" w="med" len="med"/>
                    </a:lnB>
                    <a:solidFill>
                      <a:srgbClr val="DCE6F0"/>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D6FA5"/>
                          </a:solidFill>
                          <a:latin typeface="Arial" pitchFamily="34" charset="0"/>
                          <a:ea typeface="Arial" pitchFamily="34" charset="-122"/>
                          <a:cs typeface="Arial" pitchFamily="34" charset="-120"/>
                        </a:rPr>
                        <a:t>RNG-01</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8BF"/>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Información mínima necesaria de cada empresa cliente</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8BF"/>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Gestión comercial</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0B8BF"/>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D6FA5"/>
                          </a:solidFill>
                          <a:latin typeface="Arial" pitchFamily="34" charset="0"/>
                          <a:ea typeface="Arial" pitchFamily="34" charset="-122"/>
                          <a:cs typeface="Arial" pitchFamily="34" charset="-120"/>
                        </a:rPr>
                        <a:t>RNG-09</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Cada factura tiene un identificador único</a:t>
                      </a:r>
                      <a:endParaRPr lang="en-US" sz="1300" dirty="0">
                        <a:latin typeface="Arial" charset="0"/>
                        <a:ea typeface="Arial" charset="0"/>
                        <a:cs typeface="Arial" charset="0"/>
                      </a:endParaRPr>
                    </a:p>
                  </a:txBody>
                  <a:tcPr marL="57785" marR="57785" marT="57785" marB="57785">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Facturación y cobros</a:t>
                      </a:r>
                      <a:endParaRPr lang="en-US" sz="1300" dirty="0">
                        <a:latin typeface="Arial" charset="0"/>
                        <a:ea typeface="Arial" charset="0"/>
                        <a:cs typeface="Arial" charset="0"/>
                      </a:endParaRPr>
                    </a:p>
                  </a:txBody>
                  <a:tcPr marL="57785" marR="57785" marT="57785" marB="57785">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D6FA5"/>
                          </a:solidFill>
                          <a:latin typeface="Arial" pitchFamily="34" charset="0"/>
                          <a:ea typeface="Arial" pitchFamily="34" charset="-122"/>
                          <a:cs typeface="Arial" pitchFamily="34" charset="-120"/>
                        </a:rPr>
                        <a:t>RNG-10</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Factura emitida no se elimina: se corrige con rectificaciones</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Facturación y cobros</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D6FA5"/>
                          </a:solidFill>
                          <a:latin typeface="Arial" pitchFamily="34" charset="0"/>
                          <a:ea typeface="Arial" pitchFamily="34" charset="-122"/>
                          <a:cs typeface="Arial" pitchFamily="34" charset="-120"/>
                        </a:rPr>
                        <a:t>RNC-01</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Tres niveles de acceso: UO, AD y SA</a:t>
                      </a:r>
                      <a:endParaRPr lang="en-US" sz="1300" dirty="0">
                        <a:latin typeface="Arial" charset="0"/>
                        <a:ea typeface="Arial" charset="0"/>
                        <a:cs typeface="Arial" charset="0"/>
                      </a:endParaRPr>
                    </a:p>
                  </a:txBody>
                  <a:tcPr marL="57785" marR="57785" marT="57785" marB="57785">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Roles y aprobaciones</a:t>
                      </a:r>
                      <a:endParaRPr lang="en-US" sz="1300" dirty="0">
                        <a:latin typeface="Arial" charset="0"/>
                        <a:ea typeface="Arial" charset="0"/>
                        <a:cs typeface="Arial" charset="0"/>
                      </a:endParaRPr>
                    </a:p>
                  </a:txBody>
                  <a:tcPr marL="57785" marR="57785" marT="57785" marB="57785">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D6FA5"/>
                          </a:solidFill>
                          <a:latin typeface="Arial" pitchFamily="34" charset="0"/>
                          <a:ea typeface="Arial" pitchFamily="34" charset="-122"/>
                          <a:cs typeface="Arial" pitchFamily="34" charset="-120"/>
                        </a:rPr>
                        <a:t>RNC-06</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Ciertos cambios económicos requieren aprobación</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Roles y aprobaciones</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1C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D6FA5"/>
                          </a:solidFill>
                          <a:latin typeface="Arial" pitchFamily="34" charset="0"/>
                          <a:ea typeface="Arial" pitchFamily="34" charset="-122"/>
                          <a:cs typeface="Arial" pitchFamily="34" charset="-120"/>
                        </a:rPr>
                        <a:t>RNL-01</a:t>
                      </a:r>
                      <a:endParaRPr lang="en-US" sz="1300" dirty="0">
                        <a:latin typeface="Arial" charset="0"/>
                        <a:ea typeface="Arial" charset="0"/>
                        <a:cs typeface="Arial" charset="0"/>
                      </a:endParaRPr>
                    </a:p>
                  </a:txBody>
                  <a:tcPr marL="57785" marR="57785" marT="57785" marB="57785">
                    <a:lnL w="12700" cap="flat" cmpd="sng" algn="ctr">
                      <a:solidFill>
                        <a:srgbClr val="C5C4C1"/>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Las operaciones críticas quedan auditadas</a:t>
                      </a:r>
                      <a:endParaRPr lang="en-US" sz="1300" dirty="0">
                        <a:latin typeface="Arial" charset="0"/>
                        <a:ea typeface="Arial" charset="0"/>
                        <a:cs typeface="Arial" charset="0"/>
                      </a:endParaRPr>
                    </a:p>
                  </a:txBody>
                  <a:tcPr marL="57785" marR="57785" marT="57785" marB="57785">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Seguridad y continuidad</a:t>
                      </a:r>
                      <a:endParaRPr lang="en-US" sz="1300" dirty="0">
                        <a:latin typeface="Arial" charset="0"/>
                        <a:ea typeface="Arial" charset="0"/>
                        <a:cs typeface="Arial" charset="0"/>
                      </a:endParaRPr>
                    </a:p>
                  </a:txBody>
                  <a:tcPr marL="57785" marR="57785" marT="57785" marB="57785">
                    <a:lnL w="12700" cap="flat" cmpd="sng" algn="ctr">
                      <a:solidFill>
                        <a:srgbClr val="BEC1C4"/>
                      </a:solidFill>
                      <a:prstDash val="solid"/>
                      <a:round/>
                      <a:headEnd type="none" w="med" len="med"/>
                      <a:tailEnd type="none" w="med" len="med"/>
                    </a:lnL>
                    <a:lnR w="12700" cap="flat" cmpd="sng" algn="ctr">
                      <a:solidFill>
                        <a:srgbClr val="BEC1C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1C4"/>
                      </a:solidFill>
                      <a:prstDash val="solid"/>
                      <a:round/>
                      <a:headEnd type="none" w="med" len="med"/>
                      <a:tailEnd type="none" w="med" len="med"/>
                    </a:lnB>
                    <a:solidFill>
                      <a:srgbClr val="EEF2F6"/>
                    </a:solidFill>
                  </a:tcPr>
                </a:tc>
                <a:extLst>
                  <a:ext uri="{0D108BD9-81ED-4DB2-BD59-A6C34878D82A}">
                    <a16:rowId xmlns:a16="http://schemas.microsoft.com/office/drawing/2014/main" val="10006"/>
                  </a:ext>
                </a:extLst>
              </a:tr>
            </a:tbl>
          </a:graphicData>
        </a:graphic>
      </p:graphicFrame>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4 / 12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610C"/>
                </a:solidFill>
                <a:latin typeface="Arial" pitchFamily="34" charset="0"/>
                <a:ea typeface="Arial" pitchFamily="34" charset="-122"/>
                <a:cs typeface="Arial" pitchFamily="34" charset="-120"/>
              </a:rPr>
              <a:t>REQUISITOS DE USUARIO</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Tres perfiles y sistema de roles</a:t>
            </a:r>
            <a:endParaRPr lang="en-US" sz="3200" dirty="0"/>
          </a:p>
        </p:txBody>
      </p:sp>
      <p:sp>
        <p:nvSpPr>
          <p:cNvPr id="4" name="Text 2"/>
          <p:cNvSpPr/>
          <p:nvPr/>
        </p:nvSpPr>
        <p:spPr>
          <a:xfrm>
            <a:off x="812800" y="17017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F63"/>
                </a:solidFill>
                <a:latin typeface="Arial" pitchFamily="34" charset="0"/>
                <a:ea typeface="Arial" pitchFamily="34" charset="-122"/>
                <a:cs typeface="Arial" pitchFamily="34" charset="-120"/>
              </a:rPr>
              <a:t>Qué esperan poder hacer los empleados según su perfil, de más a menos capacidades.</a:t>
            </a:r>
            <a:endParaRPr lang="en-US" sz="1400" dirty="0"/>
          </a:p>
        </p:txBody>
      </p:sp>
      <p:sp>
        <p:nvSpPr>
          <p:cNvPr id="5" name="Shape 3"/>
          <p:cNvSpPr/>
          <p:nvPr/>
        </p:nvSpPr>
        <p:spPr>
          <a:xfrm>
            <a:off x="815975" y="2131616"/>
            <a:ext cx="10560050" cy="1017191"/>
          </a:xfrm>
          <a:prstGeom prst="roundRect">
            <a:avLst>
              <a:gd name="adj" fmla="val 9676"/>
            </a:avLst>
          </a:prstGeom>
          <a:solidFill>
            <a:srgbClr val="FDFDFB"/>
          </a:solidFill>
          <a:ln w="6350">
            <a:solidFill>
              <a:srgbClr val="D5DCE4"/>
            </a:solidFill>
            <a:prstDash val="solid"/>
          </a:ln>
        </p:spPr>
        <p:txBody>
          <a:bodyPr/>
          <a:lstStyle/>
          <a:p>
            <a:endParaRPr lang="es-ES"/>
          </a:p>
        </p:txBody>
      </p:sp>
      <p:sp>
        <p:nvSpPr>
          <p:cNvPr id="6" name="Text 4"/>
          <p:cNvSpPr/>
          <p:nvPr/>
        </p:nvSpPr>
        <p:spPr>
          <a:xfrm>
            <a:off x="1022350" y="2388791"/>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Arial" pitchFamily="34" charset="0"/>
                <a:ea typeface="Arial" pitchFamily="34" charset="-122"/>
                <a:cs typeface="Arial" pitchFamily="34" charset="-120"/>
              </a:rPr>
              <a:t>URS · SA</a:t>
            </a:r>
            <a:endParaRPr lang="en-US" sz="1200" dirty="0"/>
          </a:p>
        </p:txBody>
      </p:sp>
      <p:sp>
        <p:nvSpPr>
          <p:cNvPr id="7" name="Text 5"/>
          <p:cNvSpPr/>
          <p:nvPr/>
        </p:nvSpPr>
        <p:spPr>
          <a:xfrm>
            <a:off x="1022350" y="2640211"/>
            <a:ext cx="2877820"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Superadministrador</a:t>
            </a:r>
            <a:endParaRPr lang="en-US" sz="1800" dirty="0"/>
          </a:p>
        </p:txBody>
      </p:sp>
      <p:sp>
        <p:nvSpPr>
          <p:cNvPr id="8" name="Text 6"/>
          <p:cNvSpPr/>
          <p:nvPr/>
        </p:nvSpPr>
        <p:spPr>
          <a:xfrm>
            <a:off x="4019550" y="2287191"/>
            <a:ext cx="1338411"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Incluye lo del AD</a:t>
            </a:r>
            <a:endParaRPr lang="en-US" sz="1200" dirty="0"/>
          </a:p>
        </p:txBody>
      </p:sp>
      <p:sp>
        <p:nvSpPr>
          <p:cNvPr id="9" name="Text 7"/>
          <p:cNvSpPr/>
          <p:nvPr/>
        </p:nvSpPr>
        <p:spPr>
          <a:xfrm>
            <a:off x="5434161" y="2287191"/>
            <a:ext cx="1592659"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Configuración global</a:t>
            </a:r>
            <a:endParaRPr lang="en-US" sz="1200" dirty="0"/>
          </a:p>
        </p:txBody>
      </p:sp>
      <p:sp>
        <p:nvSpPr>
          <p:cNvPr id="10" name="Text 8"/>
          <p:cNvSpPr/>
          <p:nvPr/>
        </p:nvSpPr>
        <p:spPr>
          <a:xfrm>
            <a:off x="7103021" y="2287191"/>
            <a:ext cx="652066"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Tarifas</a:t>
            </a:r>
            <a:endParaRPr lang="en-US" sz="1200" dirty="0"/>
          </a:p>
        </p:txBody>
      </p:sp>
      <p:sp>
        <p:nvSpPr>
          <p:cNvPr id="11" name="Text 9"/>
          <p:cNvSpPr/>
          <p:nvPr/>
        </p:nvSpPr>
        <p:spPr>
          <a:xfrm>
            <a:off x="7831286" y="2287191"/>
            <a:ext cx="1634877"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Series de facturación</a:t>
            </a:r>
            <a:endParaRPr lang="en-US" sz="1200" dirty="0"/>
          </a:p>
        </p:txBody>
      </p:sp>
      <p:sp>
        <p:nvSpPr>
          <p:cNvPr id="12" name="Text 10"/>
          <p:cNvSpPr/>
          <p:nvPr/>
        </p:nvSpPr>
        <p:spPr>
          <a:xfrm>
            <a:off x="9542363" y="2287191"/>
            <a:ext cx="1625997"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Permisos y umbrales</a:t>
            </a:r>
            <a:endParaRPr lang="en-US" sz="1200" dirty="0"/>
          </a:p>
        </p:txBody>
      </p:sp>
      <p:sp>
        <p:nvSpPr>
          <p:cNvPr id="13" name="Text 11"/>
          <p:cNvSpPr/>
          <p:nvPr/>
        </p:nvSpPr>
        <p:spPr>
          <a:xfrm>
            <a:off x="4019550" y="2678311"/>
            <a:ext cx="2413893"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Recibe movimientos importantes</a:t>
            </a:r>
            <a:endParaRPr lang="en-US" sz="1200" dirty="0"/>
          </a:p>
        </p:txBody>
      </p:sp>
      <p:sp>
        <p:nvSpPr>
          <p:cNvPr id="14" name="Shape 12"/>
          <p:cNvSpPr/>
          <p:nvPr/>
        </p:nvSpPr>
        <p:spPr>
          <a:xfrm>
            <a:off x="1069975" y="3282156"/>
            <a:ext cx="10306050" cy="1017191"/>
          </a:xfrm>
          <a:prstGeom prst="roundRect">
            <a:avLst>
              <a:gd name="adj" fmla="val 9676"/>
            </a:avLst>
          </a:prstGeom>
          <a:solidFill>
            <a:srgbClr val="FDFDFB"/>
          </a:solidFill>
          <a:ln w="6350">
            <a:solidFill>
              <a:srgbClr val="D5DCE4"/>
            </a:solidFill>
            <a:prstDash val="solid"/>
          </a:ln>
        </p:spPr>
        <p:txBody>
          <a:bodyPr/>
          <a:lstStyle/>
          <a:p>
            <a:endParaRPr lang="es-ES"/>
          </a:p>
        </p:txBody>
      </p:sp>
      <p:sp>
        <p:nvSpPr>
          <p:cNvPr id="15" name="Text 13"/>
          <p:cNvSpPr/>
          <p:nvPr/>
        </p:nvSpPr>
        <p:spPr>
          <a:xfrm>
            <a:off x="1276350" y="3539331"/>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URA · AD</a:t>
            </a:r>
            <a:endParaRPr lang="en-US" sz="1200" dirty="0"/>
          </a:p>
        </p:txBody>
      </p:sp>
      <p:sp>
        <p:nvSpPr>
          <p:cNvPr id="16" name="Text 14"/>
          <p:cNvSpPr/>
          <p:nvPr/>
        </p:nvSpPr>
        <p:spPr>
          <a:xfrm>
            <a:off x="1276350" y="3790752"/>
            <a:ext cx="2877820"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Administrador</a:t>
            </a:r>
            <a:endParaRPr lang="en-US" sz="1800" dirty="0"/>
          </a:p>
        </p:txBody>
      </p:sp>
      <p:sp>
        <p:nvSpPr>
          <p:cNvPr id="17" name="Text 15"/>
          <p:cNvSpPr/>
          <p:nvPr/>
        </p:nvSpPr>
        <p:spPr>
          <a:xfrm>
            <a:off x="4273550" y="3437731"/>
            <a:ext cx="1838226"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Acceso global a clientes</a:t>
            </a:r>
            <a:endParaRPr lang="en-US" sz="1200" dirty="0"/>
          </a:p>
        </p:txBody>
      </p:sp>
      <p:sp>
        <p:nvSpPr>
          <p:cNvPr id="18" name="Text 16"/>
          <p:cNvSpPr/>
          <p:nvPr/>
        </p:nvSpPr>
        <p:spPr>
          <a:xfrm>
            <a:off x="6187976" y="3437731"/>
            <a:ext cx="1745159"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Gestiona asignaciones</a:t>
            </a:r>
            <a:endParaRPr lang="en-US" sz="1200" dirty="0"/>
          </a:p>
        </p:txBody>
      </p:sp>
      <p:sp>
        <p:nvSpPr>
          <p:cNvPr id="19" name="Text 17"/>
          <p:cNvSpPr/>
          <p:nvPr/>
        </p:nvSpPr>
        <p:spPr>
          <a:xfrm>
            <a:off x="8009334" y="3437731"/>
            <a:ext cx="1473746"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Gestiona permisos</a:t>
            </a:r>
            <a:endParaRPr lang="en-US" sz="1200" dirty="0"/>
          </a:p>
        </p:txBody>
      </p:sp>
      <p:sp>
        <p:nvSpPr>
          <p:cNvPr id="20" name="Text 18"/>
          <p:cNvSpPr/>
          <p:nvPr/>
        </p:nvSpPr>
        <p:spPr>
          <a:xfrm>
            <a:off x="4273550" y="3828852"/>
            <a:ext cx="2447925"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Consulta movimientos e impagos</a:t>
            </a:r>
            <a:endParaRPr lang="en-US" sz="1200" dirty="0"/>
          </a:p>
        </p:txBody>
      </p:sp>
      <p:sp>
        <p:nvSpPr>
          <p:cNvPr id="21" name="Text 19"/>
          <p:cNvSpPr/>
          <p:nvPr/>
        </p:nvSpPr>
        <p:spPr>
          <a:xfrm>
            <a:off x="6797675" y="3828852"/>
            <a:ext cx="2617788"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Aprueba determinadas operaciones</a:t>
            </a:r>
            <a:endParaRPr lang="en-US" sz="1200" dirty="0"/>
          </a:p>
        </p:txBody>
      </p:sp>
      <p:sp>
        <p:nvSpPr>
          <p:cNvPr id="22" name="Shape 20"/>
          <p:cNvSpPr/>
          <p:nvPr/>
        </p:nvSpPr>
        <p:spPr>
          <a:xfrm>
            <a:off x="1323975" y="4432697"/>
            <a:ext cx="10052050" cy="1017191"/>
          </a:xfrm>
          <a:prstGeom prst="roundRect">
            <a:avLst>
              <a:gd name="adj" fmla="val 9676"/>
            </a:avLst>
          </a:prstGeom>
          <a:solidFill>
            <a:srgbClr val="FDFDFB"/>
          </a:solidFill>
          <a:ln w="6350">
            <a:solidFill>
              <a:srgbClr val="D5DCE4"/>
            </a:solidFill>
            <a:prstDash val="solid"/>
          </a:ln>
        </p:spPr>
        <p:txBody>
          <a:bodyPr/>
          <a:lstStyle/>
          <a:p>
            <a:endParaRPr lang="es-ES"/>
          </a:p>
        </p:txBody>
      </p:sp>
      <p:sp>
        <p:nvSpPr>
          <p:cNvPr id="23" name="Text 21"/>
          <p:cNvSpPr/>
          <p:nvPr/>
        </p:nvSpPr>
        <p:spPr>
          <a:xfrm>
            <a:off x="1530350" y="4689872"/>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URU · UO</a:t>
            </a:r>
            <a:endParaRPr lang="en-US" sz="1200" dirty="0"/>
          </a:p>
        </p:txBody>
      </p:sp>
      <p:sp>
        <p:nvSpPr>
          <p:cNvPr id="24" name="Text 22"/>
          <p:cNvSpPr/>
          <p:nvPr/>
        </p:nvSpPr>
        <p:spPr>
          <a:xfrm>
            <a:off x="1530350" y="4941292"/>
            <a:ext cx="2877820"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Usuario Operativo</a:t>
            </a:r>
            <a:endParaRPr lang="en-US" sz="1800" dirty="0"/>
          </a:p>
        </p:txBody>
      </p:sp>
      <p:sp>
        <p:nvSpPr>
          <p:cNvPr id="25" name="Text 23"/>
          <p:cNvSpPr/>
          <p:nvPr/>
        </p:nvSpPr>
        <p:spPr>
          <a:xfrm>
            <a:off x="4527550" y="4588272"/>
            <a:ext cx="2298551"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Trabaja con clientes asignados</a:t>
            </a:r>
            <a:endParaRPr lang="en-US" sz="1200" dirty="0"/>
          </a:p>
        </p:txBody>
      </p:sp>
      <p:sp>
        <p:nvSpPr>
          <p:cNvPr id="26" name="Text 24"/>
          <p:cNvSpPr/>
          <p:nvPr/>
        </p:nvSpPr>
        <p:spPr>
          <a:xfrm>
            <a:off x="6902301" y="4588272"/>
            <a:ext cx="2024559"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Consulta y genera facturas</a:t>
            </a:r>
            <a:endParaRPr lang="en-US" sz="1200" dirty="0"/>
          </a:p>
        </p:txBody>
      </p:sp>
      <p:sp>
        <p:nvSpPr>
          <p:cNvPr id="27" name="Text 25"/>
          <p:cNvSpPr/>
          <p:nvPr/>
        </p:nvSpPr>
        <p:spPr>
          <a:xfrm>
            <a:off x="9003060" y="4588272"/>
            <a:ext cx="1643360"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Recibe notificaciones</a:t>
            </a:r>
            <a:endParaRPr lang="en-US" sz="1200" dirty="0"/>
          </a:p>
        </p:txBody>
      </p:sp>
      <p:sp>
        <p:nvSpPr>
          <p:cNvPr id="28" name="Text 26"/>
          <p:cNvSpPr/>
          <p:nvPr/>
        </p:nvSpPr>
        <p:spPr>
          <a:xfrm>
            <a:off x="4527550" y="4979392"/>
            <a:ext cx="2058293" cy="314920"/>
          </a:xfrm>
          <a:prstGeom prst="roundRect">
            <a:avLst>
              <a:gd name="adj" fmla="val 48393"/>
            </a:avLst>
          </a:prstGeom>
          <a:solidFill>
            <a:srgbClr val="E6EDF4"/>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Arial" pitchFamily="34" charset="0"/>
                <a:ea typeface="Arial" pitchFamily="34" charset="-122"/>
                <a:cs typeface="Arial" pitchFamily="34" charset="-120"/>
              </a:rPr>
              <a:t>Funciones limitadas por AD</a:t>
            </a:r>
            <a:endParaRPr lang="en-US" sz="1200" dirty="0"/>
          </a:p>
        </p:txBody>
      </p:sp>
      <p:sp>
        <p:nvSpPr>
          <p:cNvPr id="29" name="Text 2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5 / 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3D"/>
                </a:solidFill>
                <a:latin typeface="Arial" pitchFamily="34" charset="0"/>
                <a:ea typeface="Arial" pitchFamily="34" charset="-122"/>
                <a:cs typeface="Arial" pitchFamily="34" charset="-120"/>
              </a:rPr>
              <a:t>REQUISITOS FUNCIONALES · 1 DE 3</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Clientes y facturación</a:t>
            </a:r>
            <a:endParaRPr lang="en-US" sz="3200" dirty="0"/>
          </a:p>
        </p:txBody>
      </p:sp>
      <p:sp>
        <p:nvSpPr>
          <p:cNvPr id="4" name="Shape 2"/>
          <p:cNvSpPr/>
          <p:nvPr/>
        </p:nvSpPr>
        <p:spPr>
          <a:xfrm>
            <a:off x="815975" y="1730325"/>
            <a:ext cx="6800850" cy="1624211"/>
          </a:xfrm>
          <a:prstGeom prst="roundRect">
            <a:avLst>
              <a:gd name="adj" fmla="val 4496"/>
            </a:avLst>
          </a:prstGeom>
          <a:solidFill>
            <a:srgbClr val="FDFDFB"/>
          </a:solidFill>
          <a:ln w="6350">
            <a:solidFill>
              <a:srgbClr val="D5DCE4"/>
            </a:solidFill>
            <a:prstDash val="solid"/>
          </a:ln>
        </p:spPr>
        <p:txBody>
          <a:bodyPr/>
          <a:lstStyle/>
          <a:p>
            <a:endParaRPr lang="es-ES"/>
          </a:p>
        </p:txBody>
      </p:sp>
      <p:sp>
        <p:nvSpPr>
          <p:cNvPr id="5" name="Text 3"/>
          <p:cNvSpPr/>
          <p:nvPr/>
        </p:nvSpPr>
        <p:spPr>
          <a:xfrm>
            <a:off x="971550" y="1885900"/>
            <a:ext cx="6684391"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Clientes</a:t>
            </a:r>
            <a:endParaRPr lang="en-US" sz="1800" dirty="0"/>
          </a:p>
        </p:txBody>
      </p:sp>
      <p:sp>
        <p:nvSpPr>
          <p:cNvPr id="6" name="Text 4"/>
          <p:cNvSpPr/>
          <p:nvPr/>
        </p:nvSpPr>
        <p:spPr>
          <a:xfrm>
            <a:off x="971550" y="218876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CLI-01</a:t>
            </a:r>
            <a:endParaRPr lang="en-US" sz="1200" dirty="0"/>
          </a:p>
        </p:txBody>
      </p:sp>
      <p:sp>
        <p:nvSpPr>
          <p:cNvPr id="7" name="Text 5"/>
          <p:cNvSpPr/>
          <p:nvPr/>
        </p:nvSpPr>
        <p:spPr>
          <a:xfrm>
            <a:off x="1835150" y="2188121"/>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Creación y modificación de clientes</a:t>
            </a:r>
            <a:endParaRPr lang="en-US" sz="1300" dirty="0"/>
          </a:p>
        </p:txBody>
      </p:sp>
      <p:sp>
        <p:nvSpPr>
          <p:cNvPr id="8" name="Text 6"/>
          <p:cNvSpPr/>
          <p:nvPr/>
        </p:nvSpPr>
        <p:spPr>
          <a:xfrm>
            <a:off x="971550" y="245417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CLI-02</a:t>
            </a:r>
            <a:endParaRPr lang="en-US" sz="1200" dirty="0"/>
          </a:p>
        </p:txBody>
      </p:sp>
      <p:sp>
        <p:nvSpPr>
          <p:cNvPr id="9" name="Text 7"/>
          <p:cNvSpPr/>
          <p:nvPr/>
        </p:nvSpPr>
        <p:spPr>
          <a:xfrm>
            <a:off x="1835150" y="2453531"/>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Varias personas de contacto por empresa</a:t>
            </a:r>
            <a:endParaRPr lang="en-US" sz="1300" dirty="0"/>
          </a:p>
        </p:txBody>
      </p:sp>
      <p:sp>
        <p:nvSpPr>
          <p:cNvPr id="10" name="Text 8"/>
          <p:cNvSpPr/>
          <p:nvPr/>
        </p:nvSpPr>
        <p:spPr>
          <a:xfrm>
            <a:off x="971550" y="271958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CLI-04</a:t>
            </a:r>
            <a:endParaRPr lang="en-US" sz="1200" dirty="0"/>
          </a:p>
        </p:txBody>
      </p:sp>
      <p:sp>
        <p:nvSpPr>
          <p:cNvPr id="11" name="Text 9"/>
          <p:cNvSpPr/>
          <p:nvPr/>
        </p:nvSpPr>
        <p:spPr>
          <a:xfrm>
            <a:off x="1835150" y="2718941"/>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Detección de posibles duplicados</a:t>
            </a:r>
            <a:endParaRPr lang="en-US" sz="1300" dirty="0"/>
          </a:p>
        </p:txBody>
      </p:sp>
      <p:sp>
        <p:nvSpPr>
          <p:cNvPr id="12" name="Text 10"/>
          <p:cNvSpPr/>
          <p:nvPr/>
        </p:nvSpPr>
        <p:spPr>
          <a:xfrm>
            <a:off x="971550" y="298499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SUB-01</a:t>
            </a:r>
            <a:endParaRPr lang="en-US" sz="1200" dirty="0"/>
          </a:p>
        </p:txBody>
      </p:sp>
      <p:sp>
        <p:nvSpPr>
          <p:cNvPr id="13" name="Text 11"/>
          <p:cNvSpPr/>
          <p:nvPr/>
        </p:nvSpPr>
        <p:spPr>
          <a:xfrm>
            <a:off x="1835150" y="2984351"/>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Relación comercial independiente de las facturas</a:t>
            </a:r>
            <a:endParaRPr lang="en-US" sz="1300" dirty="0"/>
          </a:p>
        </p:txBody>
      </p:sp>
      <p:sp>
        <p:nvSpPr>
          <p:cNvPr id="14" name="Shape 12"/>
          <p:cNvSpPr/>
          <p:nvPr/>
        </p:nvSpPr>
        <p:spPr>
          <a:xfrm>
            <a:off x="815975" y="3487886"/>
            <a:ext cx="6800850" cy="1889621"/>
          </a:xfrm>
          <a:prstGeom prst="roundRect">
            <a:avLst>
              <a:gd name="adj" fmla="val 3865"/>
            </a:avLst>
          </a:prstGeom>
          <a:solidFill>
            <a:srgbClr val="FDFDFB"/>
          </a:solidFill>
          <a:ln w="6350">
            <a:solidFill>
              <a:srgbClr val="D5DCE4"/>
            </a:solidFill>
            <a:prstDash val="solid"/>
          </a:ln>
        </p:spPr>
        <p:txBody>
          <a:bodyPr/>
          <a:lstStyle/>
          <a:p>
            <a:endParaRPr lang="es-ES"/>
          </a:p>
        </p:txBody>
      </p:sp>
      <p:sp>
        <p:nvSpPr>
          <p:cNvPr id="15" name="Text 13"/>
          <p:cNvSpPr/>
          <p:nvPr/>
        </p:nvSpPr>
        <p:spPr>
          <a:xfrm>
            <a:off x="971550" y="3643461"/>
            <a:ext cx="6684391"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Facturación</a:t>
            </a:r>
            <a:endParaRPr lang="en-US" sz="1800" dirty="0"/>
          </a:p>
        </p:txBody>
      </p:sp>
      <p:sp>
        <p:nvSpPr>
          <p:cNvPr id="16" name="Text 14"/>
          <p:cNvSpPr/>
          <p:nvPr/>
        </p:nvSpPr>
        <p:spPr>
          <a:xfrm>
            <a:off x="971550" y="3946327"/>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FAC-01</a:t>
            </a:r>
            <a:endParaRPr lang="en-US" sz="1200" dirty="0"/>
          </a:p>
        </p:txBody>
      </p:sp>
      <p:sp>
        <p:nvSpPr>
          <p:cNvPr id="17" name="Text 15"/>
          <p:cNvSpPr/>
          <p:nvPr/>
        </p:nvSpPr>
        <p:spPr>
          <a:xfrm>
            <a:off x="1835150" y="3945682"/>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Facturas recurrentes y puntuales</a:t>
            </a:r>
            <a:endParaRPr lang="en-US" sz="1300" dirty="0"/>
          </a:p>
        </p:txBody>
      </p:sp>
      <p:sp>
        <p:nvSpPr>
          <p:cNvPr id="18" name="Text 16"/>
          <p:cNvSpPr/>
          <p:nvPr/>
        </p:nvSpPr>
        <p:spPr>
          <a:xfrm>
            <a:off x="971550" y="4211737"/>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FAC-04</a:t>
            </a:r>
            <a:endParaRPr lang="en-US" sz="1200" dirty="0"/>
          </a:p>
        </p:txBody>
      </p:sp>
      <p:sp>
        <p:nvSpPr>
          <p:cNvPr id="19" name="Text 17"/>
          <p:cNvSpPr/>
          <p:nvPr/>
        </p:nvSpPr>
        <p:spPr>
          <a:xfrm>
            <a:off x="1835150" y="4211092"/>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Numeración única</a:t>
            </a:r>
            <a:endParaRPr lang="en-US" sz="1300" dirty="0"/>
          </a:p>
        </p:txBody>
      </p:sp>
      <p:sp>
        <p:nvSpPr>
          <p:cNvPr id="20" name="Text 18"/>
          <p:cNvSpPr/>
          <p:nvPr/>
        </p:nvSpPr>
        <p:spPr>
          <a:xfrm>
            <a:off x="971550" y="4477147"/>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FAC-05</a:t>
            </a:r>
            <a:endParaRPr lang="en-US" sz="1200" dirty="0"/>
          </a:p>
        </p:txBody>
      </p:sp>
      <p:sp>
        <p:nvSpPr>
          <p:cNvPr id="21" name="Text 19"/>
          <p:cNvSpPr/>
          <p:nvPr/>
        </p:nvSpPr>
        <p:spPr>
          <a:xfrm>
            <a:off x="1835150" y="4476502"/>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Vista previa antes de emitir</a:t>
            </a:r>
            <a:endParaRPr lang="en-US" sz="1300" dirty="0"/>
          </a:p>
        </p:txBody>
      </p:sp>
      <p:sp>
        <p:nvSpPr>
          <p:cNvPr id="22" name="Text 20"/>
          <p:cNvSpPr/>
          <p:nvPr/>
        </p:nvSpPr>
        <p:spPr>
          <a:xfrm>
            <a:off x="971550" y="4742557"/>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FAC-06</a:t>
            </a:r>
            <a:endParaRPr lang="en-US" sz="1200" dirty="0"/>
          </a:p>
        </p:txBody>
      </p:sp>
      <p:sp>
        <p:nvSpPr>
          <p:cNvPr id="23" name="Text 21"/>
          <p:cNvSpPr/>
          <p:nvPr/>
        </p:nvSpPr>
        <p:spPr>
          <a:xfrm>
            <a:off x="1835150" y="4741912"/>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Rectificaciones y notas de crédito</a:t>
            </a:r>
            <a:endParaRPr lang="en-US" sz="1300" dirty="0"/>
          </a:p>
        </p:txBody>
      </p:sp>
      <p:sp>
        <p:nvSpPr>
          <p:cNvPr id="24" name="Text 22"/>
          <p:cNvSpPr/>
          <p:nvPr/>
        </p:nvSpPr>
        <p:spPr>
          <a:xfrm>
            <a:off x="971550" y="5007967"/>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GEN-01</a:t>
            </a:r>
            <a:endParaRPr lang="en-US" sz="1200" dirty="0"/>
          </a:p>
        </p:txBody>
      </p:sp>
      <p:sp>
        <p:nvSpPr>
          <p:cNvPr id="25" name="Text 23"/>
          <p:cNvSpPr/>
          <p:nvPr/>
        </p:nvSpPr>
        <p:spPr>
          <a:xfrm>
            <a:off x="1835150" y="5007322"/>
            <a:ext cx="57948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Generación automática mensual</a:t>
            </a:r>
            <a:endParaRPr lang="en-US" sz="1300" dirty="0"/>
          </a:p>
        </p:txBody>
      </p:sp>
      <p:sp>
        <p:nvSpPr>
          <p:cNvPr id="26" name="Shape 24"/>
          <p:cNvSpPr/>
          <p:nvPr/>
        </p:nvSpPr>
        <p:spPr>
          <a:xfrm>
            <a:off x="7823200" y="1727150"/>
            <a:ext cx="3556000" cy="4073971"/>
          </a:xfrm>
          <a:prstGeom prst="roundRect">
            <a:avLst>
              <a:gd name="adj" fmla="val 2143"/>
            </a:avLst>
          </a:prstGeom>
          <a:solidFill>
            <a:srgbClr val="EAEFF4"/>
          </a:solidFill>
          <a:ln/>
        </p:spPr>
        <p:txBody>
          <a:bodyPr/>
          <a:lstStyle/>
          <a:p>
            <a:endParaRPr lang="es-ES"/>
          </a:p>
        </p:txBody>
      </p:sp>
      <p:sp>
        <p:nvSpPr>
          <p:cNvPr id="27" name="Text 25"/>
          <p:cNvSpPr/>
          <p:nvPr/>
        </p:nvSpPr>
        <p:spPr>
          <a:xfrm>
            <a:off x="7975600" y="1879550"/>
            <a:ext cx="334873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B7F"/>
                </a:solidFill>
                <a:latin typeface="Arial" pitchFamily="34" charset="0"/>
                <a:ea typeface="Arial" pitchFamily="34" charset="-122"/>
                <a:cs typeface="Arial" pitchFamily="34" charset="-120"/>
              </a:rPr>
              <a:t>FLUJO BÁSICO</a:t>
            </a:r>
            <a:endParaRPr lang="en-US" sz="1200" dirty="0"/>
          </a:p>
        </p:txBody>
      </p:sp>
      <p:sp>
        <p:nvSpPr>
          <p:cNvPr id="28" name="Text 26"/>
          <p:cNvSpPr/>
          <p:nvPr/>
        </p:nvSpPr>
        <p:spPr>
          <a:xfrm>
            <a:off x="7981950" y="215002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Cliente</a:t>
            </a:r>
            <a:endParaRPr lang="en-US" sz="1400" dirty="0"/>
          </a:p>
        </p:txBody>
      </p:sp>
      <p:pic>
        <p:nvPicPr>
          <p:cNvPr id="29" name="Image 0" descr="arrow-down"/>
          <p:cNvPicPr>
            <a:picLocks noChangeAspect="1"/>
          </p:cNvPicPr>
          <p:nvPr/>
        </p:nvPicPr>
        <p:blipFill>
          <a:blip r:embed="rId3"/>
          <a:srcRect/>
          <a:stretch/>
        </p:blipFill>
        <p:spPr>
          <a:xfrm>
            <a:off x="9512300" y="2671961"/>
            <a:ext cx="177800" cy="177800"/>
          </a:xfrm>
          <a:prstGeom prst="rect">
            <a:avLst/>
          </a:prstGeom>
        </p:spPr>
      </p:pic>
      <p:sp>
        <p:nvSpPr>
          <p:cNvPr id="30" name="Text 27"/>
          <p:cNvSpPr/>
          <p:nvPr/>
        </p:nvSpPr>
        <p:spPr>
          <a:xfrm>
            <a:off x="7981950" y="290691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Relación comercial</a:t>
            </a:r>
            <a:endParaRPr lang="en-US" sz="1400" dirty="0"/>
          </a:p>
        </p:txBody>
      </p:sp>
      <p:pic>
        <p:nvPicPr>
          <p:cNvPr id="31" name="Image 1" descr="arrow-down"/>
          <p:cNvPicPr>
            <a:picLocks noChangeAspect="1"/>
          </p:cNvPicPr>
          <p:nvPr/>
        </p:nvPicPr>
        <p:blipFill>
          <a:blip r:embed="rId3"/>
          <a:srcRect/>
          <a:stretch/>
        </p:blipFill>
        <p:spPr>
          <a:xfrm>
            <a:off x="9512300" y="3428851"/>
            <a:ext cx="177800" cy="177800"/>
          </a:xfrm>
          <a:prstGeom prst="rect">
            <a:avLst/>
          </a:prstGeom>
        </p:spPr>
      </p:pic>
      <p:sp>
        <p:nvSpPr>
          <p:cNvPr id="32" name="Text 28"/>
          <p:cNvSpPr/>
          <p:nvPr/>
        </p:nvSpPr>
        <p:spPr>
          <a:xfrm>
            <a:off x="7981950" y="366380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Generación de factura</a:t>
            </a:r>
            <a:endParaRPr lang="en-US" sz="1400" dirty="0"/>
          </a:p>
        </p:txBody>
      </p:sp>
      <p:pic>
        <p:nvPicPr>
          <p:cNvPr id="33" name="Image 2" descr="arrow-down"/>
          <p:cNvPicPr>
            <a:picLocks noChangeAspect="1"/>
          </p:cNvPicPr>
          <p:nvPr/>
        </p:nvPicPr>
        <p:blipFill>
          <a:blip r:embed="rId3"/>
          <a:srcRect/>
          <a:stretch/>
        </p:blipFill>
        <p:spPr>
          <a:xfrm>
            <a:off x="9512300" y="4185741"/>
            <a:ext cx="177800" cy="177800"/>
          </a:xfrm>
          <a:prstGeom prst="rect">
            <a:avLst/>
          </a:prstGeom>
        </p:spPr>
      </p:pic>
      <p:sp>
        <p:nvSpPr>
          <p:cNvPr id="34" name="Text 29"/>
          <p:cNvSpPr/>
          <p:nvPr/>
        </p:nvSpPr>
        <p:spPr>
          <a:xfrm>
            <a:off x="7981950" y="4420691"/>
            <a:ext cx="3238500" cy="464790"/>
          </a:xfrm>
          <a:prstGeom prst="roundRect">
            <a:avLst>
              <a:gd name="adj" fmla="val 15028"/>
            </a:avLst>
          </a:prstGeom>
          <a:solidFill>
            <a:srgbClr val="FDFDFB"/>
          </a:solidFill>
          <a:ln w="12700">
            <a:solidFill>
              <a:srgbClr val="1D6FA5"/>
            </a:solidFill>
            <a:prstDash val="solid"/>
          </a:ln>
        </p:spPr>
        <p:txBody>
          <a:bodyPr wrap="square" lIns="15991" tIns="87492" rIns="15991" bIns="620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Revisión</a:t>
            </a:r>
            <a:endParaRPr lang="en-US" sz="1400" dirty="0"/>
          </a:p>
        </p:txBody>
      </p:sp>
      <p:pic>
        <p:nvPicPr>
          <p:cNvPr id="35" name="Image 3" descr="arrow-down"/>
          <p:cNvPicPr>
            <a:picLocks noChangeAspect="1"/>
          </p:cNvPicPr>
          <p:nvPr/>
        </p:nvPicPr>
        <p:blipFill>
          <a:blip r:embed="rId3"/>
          <a:srcRect/>
          <a:stretch/>
        </p:blipFill>
        <p:spPr>
          <a:xfrm>
            <a:off x="9512300" y="4942632"/>
            <a:ext cx="177800" cy="177800"/>
          </a:xfrm>
          <a:prstGeom prst="rect">
            <a:avLst/>
          </a:prstGeom>
        </p:spPr>
      </p:pic>
      <p:sp>
        <p:nvSpPr>
          <p:cNvPr id="36" name="Text 30"/>
          <p:cNvSpPr/>
          <p:nvPr/>
        </p:nvSpPr>
        <p:spPr>
          <a:xfrm>
            <a:off x="7975600" y="5171232"/>
            <a:ext cx="3251200" cy="477490"/>
          </a:xfrm>
          <a:prstGeom prst="roundRect">
            <a:avLst>
              <a:gd name="adj" fmla="val 15958"/>
            </a:avLst>
          </a:prstGeom>
          <a:solidFill>
            <a:srgbClr val="14213D"/>
          </a:solidFill>
          <a:ln/>
        </p:spPr>
        <p:txBody>
          <a:bodyPr wrap="square" lIns="7400" tIns="91982" rIns="7400" bIns="66582" rtlCol="0" anchor="t">
            <a:normAutofit/>
          </a:bodyPr>
          <a:lstStyle/>
          <a:p>
            <a:pPr marL="0" indent="0" algn="ctr">
              <a:lnSpc>
                <a:spcPts val="1960"/>
              </a:lnSpc>
              <a:buNone/>
            </a:pPr>
            <a:r>
              <a:rPr lang="en-US" sz="1400" b="1" dirty="0">
                <a:solidFill>
                  <a:srgbClr val="F7F6F2"/>
                </a:solidFill>
                <a:latin typeface="Arial" pitchFamily="34" charset="0"/>
                <a:ea typeface="Arial" pitchFamily="34" charset="-122"/>
                <a:cs typeface="Arial" pitchFamily="34" charset="-120"/>
              </a:rPr>
              <a:t>Emisión</a:t>
            </a:r>
            <a:endParaRPr lang="en-US" sz="1400" dirty="0"/>
          </a:p>
        </p:txBody>
      </p:sp>
      <p:sp>
        <p:nvSpPr>
          <p:cNvPr id="37" name="Text 3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8" name="Text 3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6 / 12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3D"/>
                </a:solidFill>
                <a:latin typeface="Arial" pitchFamily="34" charset="0"/>
                <a:ea typeface="Arial" pitchFamily="34" charset="-122"/>
                <a:cs typeface="Arial" pitchFamily="34" charset="-120"/>
              </a:rPr>
              <a:t>REQUISITOS FUNCIONALES · 2 DE 3</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Cobros y comunicación</a:t>
            </a:r>
            <a:endParaRPr lang="en-US" sz="3200" dirty="0"/>
          </a:p>
        </p:txBody>
      </p:sp>
      <p:sp>
        <p:nvSpPr>
          <p:cNvPr id="4" name="Shape 2"/>
          <p:cNvSpPr/>
          <p:nvPr/>
        </p:nvSpPr>
        <p:spPr>
          <a:xfrm>
            <a:off x="815975" y="1730325"/>
            <a:ext cx="5175250" cy="2127696"/>
          </a:xfrm>
          <a:prstGeom prst="roundRect">
            <a:avLst>
              <a:gd name="adj" fmla="val 3432"/>
            </a:avLst>
          </a:prstGeom>
          <a:solidFill>
            <a:srgbClr val="FDFDFB"/>
          </a:solidFill>
          <a:ln w="6350">
            <a:solidFill>
              <a:srgbClr val="D5DCE4"/>
            </a:solidFill>
            <a:prstDash val="solid"/>
          </a:ln>
        </p:spPr>
        <p:txBody>
          <a:bodyPr/>
          <a:lstStyle/>
          <a:p>
            <a:endParaRPr lang="es-ES"/>
          </a:p>
        </p:txBody>
      </p:sp>
      <p:sp>
        <p:nvSpPr>
          <p:cNvPr id="5" name="Text 3"/>
          <p:cNvSpPr/>
          <p:nvPr/>
        </p:nvSpPr>
        <p:spPr>
          <a:xfrm>
            <a:off x="971550" y="1885900"/>
            <a:ext cx="5010023"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Cobros</a:t>
            </a:r>
            <a:endParaRPr lang="en-US" sz="1800" dirty="0"/>
          </a:p>
        </p:txBody>
      </p:sp>
      <p:sp>
        <p:nvSpPr>
          <p:cNvPr id="6" name="Text 4"/>
          <p:cNvSpPr/>
          <p:nvPr/>
        </p:nvSpPr>
        <p:spPr>
          <a:xfrm>
            <a:off x="971550" y="218876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PAG-01</a:t>
            </a:r>
            <a:endParaRPr lang="en-US" sz="1200" dirty="0"/>
          </a:p>
        </p:txBody>
      </p:sp>
      <p:sp>
        <p:nvSpPr>
          <p:cNvPr id="7" name="Text 5"/>
          <p:cNvSpPr/>
          <p:nvPr/>
        </p:nvSpPr>
        <p:spPr>
          <a:xfrm>
            <a:off x="1835150" y="2188121"/>
            <a:ext cx="412051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Integración simulada con Stripe</a:t>
            </a:r>
            <a:endParaRPr lang="en-US" sz="1300" dirty="0"/>
          </a:p>
        </p:txBody>
      </p:sp>
      <p:sp>
        <p:nvSpPr>
          <p:cNvPr id="8" name="Text 6"/>
          <p:cNvSpPr/>
          <p:nvPr/>
        </p:nvSpPr>
        <p:spPr>
          <a:xfrm>
            <a:off x="971550" y="245417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PAG-02</a:t>
            </a:r>
            <a:endParaRPr lang="en-US" sz="1200" dirty="0"/>
          </a:p>
        </p:txBody>
      </p:sp>
      <p:sp>
        <p:nvSpPr>
          <p:cNvPr id="9" name="Text 7"/>
          <p:cNvSpPr/>
          <p:nvPr/>
        </p:nvSpPr>
        <p:spPr>
          <a:xfrm>
            <a:off x="1835150" y="2453531"/>
            <a:ext cx="412051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Conciliación de movimientos bancarios</a:t>
            </a:r>
            <a:endParaRPr lang="en-US" sz="1300" dirty="0"/>
          </a:p>
        </p:txBody>
      </p:sp>
      <p:sp>
        <p:nvSpPr>
          <p:cNvPr id="10" name="Text 8"/>
          <p:cNvSpPr/>
          <p:nvPr/>
        </p:nvSpPr>
        <p:spPr>
          <a:xfrm>
            <a:off x="1069594" y="2718941"/>
            <a:ext cx="4904359" cy="743496"/>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dirty="0">
                <a:solidFill>
                  <a:srgbClr val="3F4F63"/>
                </a:solidFill>
                <a:latin typeface="Arial" pitchFamily="34" charset="0"/>
                <a:ea typeface="Arial" pitchFamily="34" charset="-122"/>
                <a:cs typeface="Arial" pitchFamily="34" charset="-120"/>
              </a:rPr>
              <a:t>Detección de diferencias de importe</a:t>
            </a:r>
            <a:endParaRPr lang="en-US" sz="1300" dirty="0"/>
          </a:p>
          <a:p>
            <a:pPr marL="155956" indent="-155956" algn="l">
              <a:lnSpc>
                <a:spcPts val="1885"/>
              </a:lnSpc>
              <a:buSzPct val="100000"/>
              <a:buChar char="•"/>
            </a:pPr>
            <a:r>
              <a:rPr lang="en-US" sz="1300" dirty="0">
                <a:solidFill>
                  <a:srgbClr val="3F4F63"/>
                </a:solidFill>
                <a:latin typeface="Arial" pitchFamily="34" charset="0"/>
                <a:ea typeface="Arial" pitchFamily="34" charset="-122"/>
                <a:cs typeface="Arial" pitchFamily="34" charset="-120"/>
              </a:rPr>
              <a:t>Automática si la coincidencia es clara</a:t>
            </a:r>
            <a:endParaRPr lang="en-US" sz="1300" dirty="0"/>
          </a:p>
          <a:p>
            <a:pPr marL="155956" indent="-155956" algn="l">
              <a:lnSpc>
                <a:spcPts val="1885"/>
              </a:lnSpc>
              <a:buSzPct val="100000"/>
              <a:buChar char="•"/>
            </a:pPr>
            <a:r>
              <a:rPr lang="en-US" sz="1300" dirty="0">
                <a:solidFill>
                  <a:srgbClr val="3F4F63"/>
                </a:solidFill>
                <a:latin typeface="Arial" pitchFamily="34" charset="0"/>
                <a:ea typeface="Arial" pitchFamily="34" charset="-122"/>
                <a:cs typeface="Arial" pitchFamily="34" charset="-120"/>
              </a:rPr>
              <a:t>Revisión manual en los casos dudosos</a:t>
            </a:r>
            <a:endParaRPr lang="en-US" sz="1300" dirty="0"/>
          </a:p>
        </p:txBody>
      </p:sp>
      <p:sp>
        <p:nvSpPr>
          <p:cNvPr id="11" name="Shape 9"/>
          <p:cNvSpPr/>
          <p:nvPr/>
        </p:nvSpPr>
        <p:spPr>
          <a:xfrm>
            <a:off x="6200775" y="1730325"/>
            <a:ext cx="5175250" cy="2127696"/>
          </a:xfrm>
          <a:prstGeom prst="roundRect">
            <a:avLst>
              <a:gd name="adj" fmla="val 3432"/>
            </a:avLst>
          </a:prstGeom>
          <a:solidFill>
            <a:srgbClr val="FDFDFB"/>
          </a:solidFill>
          <a:ln w="6350">
            <a:solidFill>
              <a:srgbClr val="D5DCE4"/>
            </a:solidFill>
            <a:prstDash val="solid"/>
          </a:ln>
        </p:spPr>
        <p:txBody>
          <a:bodyPr/>
          <a:lstStyle/>
          <a:p>
            <a:endParaRPr lang="es-ES"/>
          </a:p>
        </p:txBody>
      </p:sp>
      <p:sp>
        <p:nvSpPr>
          <p:cNvPr id="12" name="Text 10"/>
          <p:cNvSpPr/>
          <p:nvPr/>
        </p:nvSpPr>
        <p:spPr>
          <a:xfrm>
            <a:off x="6356350" y="1885900"/>
            <a:ext cx="5010023"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Comunicación</a:t>
            </a:r>
            <a:endParaRPr lang="en-US" sz="1800" dirty="0"/>
          </a:p>
        </p:txBody>
      </p:sp>
      <p:sp>
        <p:nvSpPr>
          <p:cNvPr id="13" name="Text 11"/>
          <p:cNvSpPr/>
          <p:nvPr/>
        </p:nvSpPr>
        <p:spPr>
          <a:xfrm>
            <a:off x="6356350" y="2188766"/>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ENV-01</a:t>
            </a:r>
            <a:endParaRPr lang="en-US" sz="1200" dirty="0"/>
          </a:p>
        </p:txBody>
      </p:sp>
      <p:sp>
        <p:nvSpPr>
          <p:cNvPr id="14" name="Text 12"/>
          <p:cNvSpPr/>
          <p:nvPr/>
        </p:nvSpPr>
        <p:spPr>
          <a:xfrm>
            <a:off x="7219950" y="2188121"/>
            <a:ext cx="412051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Envío automático de facturas</a:t>
            </a:r>
            <a:endParaRPr lang="en-US" sz="1300" dirty="0"/>
          </a:p>
        </p:txBody>
      </p:sp>
      <p:sp>
        <p:nvSpPr>
          <p:cNvPr id="15" name="Text 13"/>
          <p:cNvSpPr/>
          <p:nvPr/>
        </p:nvSpPr>
        <p:spPr>
          <a:xfrm>
            <a:off x="6454394" y="2453531"/>
            <a:ext cx="4904359" cy="743496"/>
          </a:xfrm>
          <a:prstGeom prst="rect">
            <a:avLst/>
          </a:prstGeom>
          <a:noFill/>
          <a:ln/>
        </p:spPr>
        <p:txBody>
          <a:bodyPr wrap="square" lIns="0" tIns="0" rIns="0" bIns="0" rtlCol="0" anchor="t">
            <a:normAutofit/>
          </a:bodyPr>
          <a:lstStyle/>
          <a:p>
            <a:pPr marL="155956" indent="-155956" algn="l">
              <a:lnSpc>
                <a:spcPts val="1885"/>
              </a:lnSpc>
              <a:buSzPct val="100000"/>
              <a:buChar char="•"/>
            </a:pPr>
            <a:r>
              <a:rPr lang="en-US" sz="1300" dirty="0">
                <a:solidFill>
                  <a:srgbClr val="3F4F63"/>
                </a:solidFill>
                <a:latin typeface="Arial" pitchFamily="34" charset="0"/>
                <a:ea typeface="Arial" pitchFamily="34" charset="-122"/>
                <a:cs typeface="Arial" pitchFamily="34" charset="-120"/>
              </a:rPr>
              <a:t>Correo electrónico: canal principal</a:t>
            </a:r>
            <a:endParaRPr lang="en-US" sz="1300" dirty="0"/>
          </a:p>
          <a:p>
            <a:pPr marL="155956" indent="-155956" algn="l">
              <a:lnSpc>
                <a:spcPts val="1885"/>
              </a:lnSpc>
              <a:buSzPct val="100000"/>
              <a:buChar char="•"/>
            </a:pPr>
            <a:r>
              <a:rPr lang="en-US" sz="1300" dirty="0">
                <a:solidFill>
                  <a:srgbClr val="3F4F63"/>
                </a:solidFill>
                <a:latin typeface="Arial" pitchFamily="34" charset="0"/>
                <a:ea typeface="Arial" pitchFamily="34" charset="-122"/>
                <a:cs typeface="Arial" pitchFamily="34" charset="-120"/>
              </a:rPr>
              <a:t>WhatsApp: canal complementario</a:t>
            </a:r>
            <a:endParaRPr lang="en-US" sz="1300" dirty="0"/>
          </a:p>
          <a:p>
            <a:pPr marL="155956" indent="-155956" algn="l">
              <a:lnSpc>
                <a:spcPts val="1885"/>
              </a:lnSpc>
              <a:buSzPct val="100000"/>
              <a:buChar char="•"/>
            </a:pPr>
            <a:r>
              <a:rPr lang="en-US" sz="1300" dirty="0">
                <a:solidFill>
                  <a:srgbClr val="3F4F63"/>
                </a:solidFill>
                <a:latin typeface="Arial" pitchFamily="34" charset="0"/>
                <a:ea typeface="Arial" pitchFamily="34" charset="-122"/>
                <a:cs typeface="Arial" pitchFamily="34" charset="-120"/>
              </a:rPr>
              <a:t>Plantillas en español e inglés</a:t>
            </a:r>
            <a:endParaRPr lang="en-US" sz="1300" dirty="0"/>
          </a:p>
        </p:txBody>
      </p:sp>
      <p:sp>
        <p:nvSpPr>
          <p:cNvPr id="16" name="Text 14"/>
          <p:cNvSpPr/>
          <p:nvPr/>
        </p:nvSpPr>
        <p:spPr>
          <a:xfrm>
            <a:off x="6356350" y="3223071"/>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ENV-03</a:t>
            </a:r>
            <a:endParaRPr lang="en-US" sz="1200" dirty="0"/>
          </a:p>
        </p:txBody>
      </p:sp>
      <p:sp>
        <p:nvSpPr>
          <p:cNvPr id="17" name="Text 15"/>
          <p:cNvSpPr/>
          <p:nvPr/>
        </p:nvSpPr>
        <p:spPr>
          <a:xfrm>
            <a:off x="7219950" y="3222427"/>
            <a:ext cx="412051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Gestión de correos rebotados</a:t>
            </a:r>
            <a:endParaRPr lang="en-US" sz="1300" dirty="0"/>
          </a:p>
        </p:txBody>
      </p:sp>
      <p:sp>
        <p:nvSpPr>
          <p:cNvPr id="18" name="Text 16"/>
          <p:cNvSpPr/>
          <p:nvPr/>
        </p:nvSpPr>
        <p:spPr>
          <a:xfrm>
            <a:off x="6356350" y="3488482"/>
            <a:ext cx="812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REC-01</a:t>
            </a:r>
            <a:endParaRPr lang="en-US" sz="1200" dirty="0"/>
          </a:p>
        </p:txBody>
      </p:sp>
      <p:sp>
        <p:nvSpPr>
          <p:cNvPr id="19" name="Text 17"/>
          <p:cNvSpPr/>
          <p:nvPr/>
        </p:nvSpPr>
        <p:spPr>
          <a:xfrm>
            <a:off x="7219950" y="3487837"/>
            <a:ext cx="412051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14213D"/>
                </a:solidFill>
                <a:latin typeface="Arial" pitchFamily="34" charset="0"/>
                <a:ea typeface="Arial" pitchFamily="34" charset="-122"/>
                <a:cs typeface="Arial" pitchFamily="34" charset="-120"/>
              </a:rPr>
              <a:t>Recordatorios automáticos de pago e impago</a:t>
            </a:r>
            <a:endParaRPr lang="en-US" sz="1300" dirty="0"/>
          </a:p>
        </p:txBody>
      </p:sp>
      <p:sp>
        <p:nvSpPr>
          <p:cNvPr id="20" name="Text 18"/>
          <p:cNvSpPr/>
          <p:nvPr/>
        </p:nvSpPr>
        <p:spPr>
          <a:xfrm>
            <a:off x="812800" y="406439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Del documento al cobro</a:t>
            </a:r>
            <a:endParaRPr lang="en-US" sz="1200" dirty="0"/>
          </a:p>
        </p:txBody>
      </p:sp>
      <p:sp>
        <p:nvSpPr>
          <p:cNvPr id="21" name="Text 19"/>
          <p:cNvSpPr/>
          <p:nvPr/>
        </p:nvSpPr>
        <p:spPr>
          <a:xfrm>
            <a:off x="819150" y="4360267"/>
            <a:ext cx="178053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Factura</a:t>
            </a:r>
            <a:endParaRPr lang="en-US" sz="1400" dirty="0"/>
          </a:p>
        </p:txBody>
      </p:sp>
      <p:pic>
        <p:nvPicPr>
          <p:cNvPr id="22" name="Image 0" descr="arrow-right"/>
          <p:cNvPicPr>
            <a:picLocks noChangeAspect="1"/>
          </p:cNvPicPr>
          <p:nvPr/>
        </p:nvPicPr>
        <p:blipFill>
          <a:blip r:embed="rId3"/>
          <a:srcRect/>
          <a:stretch/>
        </p:blipFill>
        <p:spPr>
          <a:xfrm>
            <a:off x="2682230" y="4529138"/>
            <a:ext cx="254000" cy="152400"/>
          </a:xfrm>
          <a:prstGeom prst="rect">
            <a:avLst/>
          </a:prstGeom>
        </p:spPr>
      </p:pic>
      <p:sp>
        <p:nvSpPr>
          <p:cNvPr id="23" name="Text 20"/>
          <p:cNvSpPr/>
          <p:nvPr/>
        </p:nvSpPr>
        <p:spPr>
          <a:xfrm>
            <a:off x="3018780" y="4360267"/>
            <a:ext cx="178058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Envío</a:t>
            </a:r>
            <a:endParaRPr lang="en-US" sz="1400" dirty="0"/>
          </a:p>
        </p:txBody>
      </p:sp>
      <p:pic>
        <p:nvPicPr>
          <p:cNvPr id="24" name="Image 1" descr="arrow-right"/>
          <p:cNvPicPr>
            <a:picLocks noChangeAspect="1"/>
          </p:cNvPicPr>
          <p:nvPr/>
        </p:nvPicPr>
        <p:blipFill>
          <a:blip r:embed="rId3"/>
          <a:srcRect/>
          <a:stretch/>
        </p:blipFill>
        <p:spPr>
          <a:xfrm>
            <a:off x="4881910" y="4529138"/>
            <a:ext cx="254000" cy="152400"/>
          </a:xfrm>
          <a:prstGeom prst="rect">
            <a:avLst/>
          </a:prstGeom>
        </p:spPr>
      </p:pic>
      <p:sp>
        <p:nvSpPr>
          <p:cNvPr id="25" name="Text 21"/>
          <p:cNvSpPr/>
          <p:nvPr/>
        </p:nvSpPr>
        <p:spPr>
          <a:xfrm>
            <a:off x="5218460" y="4360267"/>
            <a:ext cx="178053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Recordatorio</a:t>
            </a:r>
            <a:endParaRPr lang="en-US" sz="1400" dirty="0"/>
          </a:p>
        </p:txBody>
      </p:sp>
      <p:pic>
        <p:nvPicPr>
          <p:cNvPr id="26" name="Image 2" descr="arrow-right"/>
          <p:cNvPicPr>
            <a:picLocks noChangeAspect="1"/>
          </p:cNvPicPr>
          <p:nvPr/>
        </p:nvPicPr>
        <p:blipFill>
          <a:blip r:embed="rId3"/>
          <a:srcRect/>
          <a:stretch/>
        </p:blipFill>
        <p:spPr>
          <a:xfrm>
            <a:off x="7081540" y="4529138"/>
            <a:ext cx="254000" cy="152400"/>
          </a:xfrm>
          <a:prstGeom prst="rect">
            <a:avLst/>
          </a:prstGeom>
        </p:spPr>
      </p:pic>
      <p:sp>
        <p:nvSpPr>
          <p:cNvPr id="27" name="Text 22"/>
          <p:cNvSpPr/>
          <p:nvPr/>
        </p:nvSpPr>
        <p:spPr>
          <a:xfrm>
            <a:off x="7418090" y="4360267"/>
            <a:ext cx="1780530" cy="490190"/>
          </a:xfrm>
          <a:prstGeom prst="roundRect">
            <a:avLst>
              <a:gd name="adj" fmla="val 14250"/>
            </a:avLst>
          </a:prstGeom>
          <a:solidFill>
            <a:srgbClr val="FDFDFB"/>
          </a:solidFill>
          <a:ln w="12700">
            <a:solidFill>
              <a:srgbClr val="1D6FA5"/>
            </a:solidFill>
            <a:prstDash val="solid"/>
          </a:ln>
        </p:spPr>
        <p:txBody>
          <a:bodyPr wrap="square" lIns="36692" tIns="100192" rIns="36692" bIns="74792" rtlCol="0" anchor="t">
            <a:normAutofit/>
          </a:bodyPr>
          <a:lstStyle/>
          <a:p>
            <a:pPr marL="0" indent="0" algn="ctr">
              <a:lnSpc>
                <a:spcPts val="1960"/>
              </a:lnSpc>
              <a:buNone/>
            </a:pPr>
            <a:r>
              <a:rPr lang="en-US" sz="1400" b="1" dirty="0">
                <a:solidFill>
                  <a:srgbClr val="14213D"/>
                </a:solidFill>
                <a:latin typeface="Arial" pitchFamily="34" charset="0"/>
                <a:ea typeface="Arial" pitchFamily="34" charset="-122"/>
                <a:cs typeface="Arial" pitchFamily="34" charset="-120"/>
              </a:rPr>
              <a:t>Pago</a:t>
            </a:r>
            <a:endParaRPr lang="en-US" sz="1400" dirty="0"/>
          </a:p>
        </p:txBody>
      </p:sp>
      <p:pic>
        <p:nvPicPr>
          <p:cNvPr id="28" name="Image 3" descr="arrow-right"/>
          <p:cNvPicPr>
            <a:picLocks noChangeAspect="1"/>
          </p:cNvPicPr>
          <p:nvPr/>
        </p:nvPicPr>
        <p:blipFill>
          <a:blip r:embed="rId3"/>
          <a:srcRect/>
          <a:stretch/>
        </p:blipFill>
        <p:spPr>
          <a:xfrm>
            <a:off x="9281170" y="4529138"/>
            <a:ext cx="254000" cy="152400"/>
          </a:xfrm>
          <a:prstGeom prst="rect">
            <a:avLst/>
          </a:prstGeom>
        </p:spPr>
      </p:pic>
      <p:sp>
        <p:nvSpPr>
          <p:cNvPr id="29" name="Text 23"/>
          <p:cNvSpPr/>
          <p:nvPr/>
        </p:nvSpPr>
        <p:spPr>
          <a:xfrm>
            <a:off x="9611370" y="4353917"/>
            <a:ext cx="1767830" cy="502890"/>
          </a:xfrm>
          <a:prstGeom prst="roundRect">
            <a:avLst>
              <a:gd name="adj" fmla="val 15152"/>
            </a:avLst>
          </a:prstGeom>
          <a:solidFill>
            <a:srgbClr val="14213D"/>
          </a:solidFill>
          <a:ln/>
        </p:spPr>
        <p:txBody>
          <a:bodyPr wrap="square" lIns="28482" tIns="104682" rIns="28482" bIns="79282" rtlCol="0" anchor="t">
            <a:normAutofit/>
          </a:bodyPr>
          <a:lstStyle/>
          <a:p>
            <a:pPr marL="0" indent="0" algn="ctr">
              <a:lnSpc>
                <a:spcPts val="1960"/>
              </a:lnSpc>
              <a:buNone/>
            </a:pPr>
            <a:r>
              <a:rPr lang="en-US" sz="1400" b="1" dirty="0">
                <a:solidFill>
                  <a:srgbClr val="F7F6F2"/>
                </a:solidFill>
                <a:latin typeface="Arial" pitchFamily="34" charset="0"/>
                <a:ea typeface="Arial" pitchFamily="34" charset="-122"/>
                <a:cs typeface="Arial" pitchFamily="34" charset="-120"/>
              </a:rPr>
              <a:t>Conciliación</a:t>
            </a:r>
            <a:endParaRPr lang="en-US" sz="1400" dirty="0"/>
          </a:p>
        </p:txBody>
      </p:sp>
      <p:sp>
        <p:nvSpPr>
          <p:cNvPr id="30" name="Text 2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31" name="Text 25"/>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7 / 12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3D"/>
                </a:solidFill>
                <a:latin typeface="Arial" pitchFamily="34" charset="0"/>
                <a:ea typeface="Arial" pitchFamily="34" charset="-122"/>
                <a:cs typeface="Arial" pitchFamily="34" charset="-120"/>
              </a:rPr>
              <a:t>REQUISITOS FUNCIONALES · 3 DE 3</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Control y automatización</a:t>
            </a:r>
            <a:endParaRPr lang="en-US" sz="3200" dirty="0"/>
          </a:p>
        </p:txBody>
      </p:sp>
      <p:sp>
        <p:nvSpPr>
          <p:cNvPr id="4" name="Shape 2"/>
          <p:cNvSpPr/>
          <p:nvPr/>
        </p:nvSpPr>
        <p:spPr>
          <a:xfrm>
            <a:off x="815975" y="1704925"/>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5" name="Image 0" descr="Activity"/>
          <p:cNvPicPr>
            <a:picLocks noChangeAspect="1"/>
          </p:cNvPicPr>
          <p:nvPr/>
        </p:nvPicPr>
        <p:blipFill>
          <a:blip r:embed="rId3"/>
          <a:srcRect/>
          <a:stretch/>
        </p:blipFill>
        <p:spPr>
          <a:xfrm>
            <a:off x="971550" y="1835100"/>
            <a:ext cx="279400" cy="279400"/>
          </a:xfrm>
          <a:prstGeom prst="rect">
            <a:avLst/>
          </a:prstGeom>
        </p:spPr>
      </p:pic>
      <p:sp>
        <p:nvSpPr>
          <p:cNvPr id="6" name="Text 3"/>
          <p:cNvSpPr/>
          <p:nvPr/>
        </p:nvSpPr>
        <p:spPr>
          <a:xfrm>
            <a:off x="1352550" y="1835100"/>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DAS-01</a:t>
            </a:r>
            <a:endParaRPr lang="en-US" sz="1200" dirty="0"/>
          </a:p>
        </p:txBody>
      </p:sp>
      <p:sp>
        <p:nvSpPr>
          <p:cNvPr id="7" name="Text 4"/>
          <p:cNvSpPr/>
          <p:nvPr/>
        </p:nvSpPr>
        <p:spPr>
          <a:xfrm>
            <a:off x="1352550" y="2073821"/>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Dashboard</a:t>
            </a:r>
            <a:endParaRPr lang="en-US" sz="1600" dirty="0"/>
          </a:p>
        </p:txBody>
      </p:sp>
      <p:sp>
        <p:nvSpPr>
          <p:cNvPr id="8" name="Text 5"/>
          <p:cNvSpPr/>
          <p:nvPr/>
        </p:nvSpPr>
        <p:spPr>
          <a:xfrm>
            <a:off x="1352550" y="2322711"/>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Pantalla de trabajo diario</a:t>
            </a:r>
            <a:endParaRPr lang="en-US" sz="1200" dirty="0"/>
          </a:p>
        </p:txBody>
      </p:sp>
      <p:sp>
        <p:nvSpPr>
          <p:cNvPr id="9" name="Shape 6"/>
          <p:cNvSpPr/>
          <p:nvPr/>
        </p:nvSpPr>
        <p:spPr>
          <a:xfrm>
            <a:off x="4371975" y="1704925"/>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10" name="Image 1" descr="Chart"/>
          <p:cNvPicPr>
            <a:picLocks noChangeAspect="1"/>
          </p:cNvPicPr>
          <p:nvPr/>
        </p:nvPicPr>
        <p:blipFill>
          <a:blip r:embed="rId4"/>
          <a:srcRect/>
          <a:stretch/>
        </p:blipFill>
        <p:spPr>
          <a:xfrm>
            <a:off x="4527550" y="1835100"/>
            <a:ext cx="279400" cy="279400"/>
          </a:xfrm>
          <a:prstGeom prst="rect">
            <a:avLst/>
          </a:prstGeom>
        </p:spPr>
      </p:pic>
      <p:sp>
        <p:nvSpPr>
          <p:cNvPr id="11" name="Text 7"/>
          <p:cNvSpPr/>
          <p:nvPr/>
        </p:nvSpPr>
        <p:spPr>
          <a:xfrm>
            <a:off x="4908550" y="1835100"/>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INF-01</a:t>
            </a:r>
            <a:endParaRPr lang="en-US" sz="1200" dirty="0"/>
          </a:p>
        </p:txBody>
      </p:sp>
      <p:sp>
        <p:nvSpPr>
          <p:cNvPr id="12" name="Text 8"/>
          <p:cNvSpPr/>
          <p:nvPr/>
        </p:nvSpPr>
        <p:spPr>
          <a:xfrm>
            <a:off x="4908550" y="2073821"/>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Informes</a:t>
            </a:r>
            <a:endParaRPr lang="en-US" sz="1600" dirty="0"/>
          </a:p>
        </p:txBody>
      </p:sp>
      <p:sp>
        <p:nvSpPr>
          <p:cNvPr id="13" name="Text 9"/>
          <p:cNvSpPr/>
          <p:nvPr/>
        </p:nvSpPr>
        <p:spPr>
          <a:xfrm>
            <a:off x="4908550" y="2322711"/>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Filtrables y exportables</a:t>
            </a:r>
            <a:endParaRPr lang="en-US" sz="1200" dirty="0"/>
          </a:p>
        </p:txBody>
      </p:sp>
      <p:sp>
        <p:nvSpPr>
          <p:cNvPr id="14" name="Shape 10"/>
          <p:cNvSpPr/>
          <p:nvPr/>
        </p:nvSpPr>
        <p:spPr>
          <a:xfrm>
            <a:off x="7927975" y="1704925"/>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15" name="Image 2" descr="Search"/>
          <p:cNvPicPr>
            <a:picLocks noChangeAspect="1"/>
          </p:cNvPicPr>
          <p:nvPr/>
        </p:nvPicPr>
        <p:blipFill>
          <a:blip r:embed="rId5"/>
          <a:srcRect/>
          <a:stretch/>
        </p:blipFill>
        <p:spPr>
          <a:xfrm>
            <a:off x="8083550" y="1835100"/>
            <a:ext cx="279400" cy="279400"/>
          </a:xfrm>
          <a:prstGeom prst="rect">
            <a:avLst/>
          </a:prstGeom>
        </p:spPr>
      </p:pic>
      <p:sp>
        <p:nvSpPr>
          <p:cNvPr id="16" name="Text 11"/>
          <p:cNvSpPr/>
          <p:nvPr/>
        </p:nvSpPr>
        <p:spPr>
          <a:xfrm>
            <a:off x="8464550" y="1835100"/>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BUS-01</a:t>
            </a:r>
            <a:endParaRPr lang="en-US" sz="1200" dirty="0"/>
          </a:p>
        </p:txBody>
      </p:sp>
      <p:sp>
        <p:nvSpPr>
          <p:cNvPr id="17" name="Text 12"/>
          <p:cNvSpPr/>
          <p:nvPr/>
        </p:nvSpPr>
        <p:spPr>
          <a:xfrm>
            <a:off x="8464550" y="2073821"/>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Búsqueda</a:t>
            </a:r>
            <a:endParaRPr lang="en-US" sz="1600" dirty="0"/>
          </a:p>
        </p:txBody>
      </p:sp>
      <p:sp>
        <p:nvSpPr>
          <p:cNvPr id="18" name="Text 13"/>
          <p:cNvSpPr/>
          <p:nvPr/>
        </p:nvSpPr>
        <p:spPr>
          <a:xfrm>
            <a:off x="8464550" y="2322711"/>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Búsqueda global</a:t>
            </a:r>
            <a:endParaRPr lang="en-US" sz="1200" dirty="0"/>
          </a:p>
        </p:txBody>
      </p:sp>
      <p:sp>
        <p:nvSpPr>
          <p:cNvPr id="19" name="Shape 14"/>
          <p:cNvSpPr/>
          <p:nvPr/>
        </p:nvSpPr>
        <p:spPr>
          <a:xfrm>
            <a:off x="815975" y="2766566"/>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20" name="Image 3" descr="Database"/>
          <p:cNvPicPr>
            <a:picLocks noChangeAspect="1"/>
          </p:cNvPicPr>
          <p:nvPr/>
        </p:nvPicPr>
        <p:blipFill>
          <a:blip r:embed="rId6"/>
          <a:srcRect/>
          <a:stretch/>
        </p:blipFill>
        <p:spPr>
          <a:xfrm>
            <a:off x="971550" y="2896741"/>
            <a:ext cx="279400" cy="279400"/>
          </a:xfrm>
          <a:prstGeom prst="rect">
            <a:avLst/>
          </a:prstGeom>
        </p:spPr>
      </p:pic>
      <p:sp>
        <p:nvSpPr>
          <p:cNvPr id="21" name="Text 15"/>
          <p:cNvSpPr/>
          <p:nvPr/>
        </p:nvSpPr>
        <p:spPr>
          <a:xfrm>
            <a:off x="1352550" y="2896741"/>
            <a:ext cx="2838577" cy="238720"/>
          </a:xfrm>
          <a:prstGeom prst="rect">
            <a:avLst/>
          </a:prstGeom>
          <a:noFill/>
          <a:ln/>
        </p:spPr>
        <p:txBody>
          <a:bodyPr wrap="square" lIns="0" tIns="0" rIns="0" bIns="0" rtlCol="0" anchor="t">
            <a:normAutofit/>
          </a:bodyPr>
          <a:lstStyle/>
          <a:p>
            <a:r>
              <a:rPr lang="es-ES" sz="1200" b="1" dirty="0">
                <a:solidFill>
                  <a:schemeClr val="accent1"/>
                </a:solidFill>
              </a:rPr>
              <a:t>IMP-01 </a:t>
            </a:r>
            <a:endParaRPr lang="en-US" sz="1200" b="1" dirty="0">
              <a:solidFill>
                <a:schemeClr val="accent1"/>
              </a:solidFill>
            </a:endParaRPr>
          </a:p>
        </p:txBody>
      </p:sp>
      <p:sp>
        <p:nvSpPr>
          <p:cNvPr id="22" name="Text 16"/>
          <p:cNvSpPr/>
          <p:nvPr/>
        </p:nvSpPr>
        <p:spPr>
          <a:xfrm>
            <a:off x="1352550" y="3135461"/>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Importación CSV</a:t>
            </a:r>
            <a:endParaRPr lang="en-US" sz="1600" dirty="0"/>
          </a:p>
        </p:txBody>
      </p:sp>
      <p:sp>
        <p:nvSpPr>
          <p:cNvPr id="23" name="Text 17"/>
          <p:cNvSpPr/>
          <p:nvPr/>
        </p:nvSpPr>
        <p:spPr>
          <a:xfrm>
            <a:off x="1352550" y="3384352"/>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Carga mediante archivos CSV</a:t>
            </a:r>
            <a:endParaRPr lang="en-US" sz="1200" dirty="0"/>
          </a:p>
        </p:txBody>
      </p:sp>
      <p:sp>
        <p:nvSpPr>
          <p:cNvPr id="24" name="Shape 18"/>
          <p:cNvSpPr/>
          <p:nvPr/>
        </p:nvSpPr>
        <p:spPr>
          <a:xfrm>
            <a:off x="4371975" y="2766566"/>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25" name="Image 4" descr="Users"/>
          <p:cNvPicPr>
            <a:picLocks noChangeAspect="1"/>
          </p:cNvPicPr>
          <p:nvPr/>
        </p:nvPicPr>
        <p:blipFill>
          <a:blip r:embed="rId7"/>
          <a:srcRect/>
          <a:stretch/>
        </p:blipFill>
        <p:spPr>
          <a:xfrm>
            <a:off x="4527550" y="2896741"/>
            <a:ext cx="279400" cy="279400"/>
          </a:xfrm>
          <a:prstGeom prst="rect">
            <a:avLst/>
          </a:prstGeom>
        </p:spPr>
      </p:pic>
      <p:sp>
        <p:nvSpPr>
          <p:cNvPr id="26" name="Text 19"/>
          <p:cNvSpPr/>
          <p:nvPr/>
        </p:nvSpPr>
        <p:spPr>
          <a:xfrm>
            <a:off x="4908550" y="2896741"/>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USU-02</a:t>
            </a:r>
            <a:endParaRPr lang="en-US" sz="1200" dirty="0"/>
          </a:p>
        </p:txBody>
      </p:sp>
      <p:sp>
        <p:nvSpPr>
          <p:cNvPr id="27" name="Text 20"/>
          <p:cNvSpPr/>
          <p:nvPr/>
        </p:nvSpPr>
        <p:spPr>
          <a:xfrm>
            <a:off x="4908550" y="3135461"/>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Gestión de usuarios</a:t>
            </a:r>
            <a:endParaRPr lang="en-US" sz="1600" dirty="0"/>
          </a:p>
        </p:txBody>
      </p:sp>
      <p:sp>
        <p:nvSpPr>
          <p:cNvPr id="28" name="Text 21"/>
          <p:cNvSpPr/>
          <p:nvPr/>
        </p:nvSpPr>
        <p:spPr>
          <a:xfrm>
            <a:off x="4908550" y="3384352"/>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Autorización basada en tres perfiles</a:t>
            </a:r>
            <a:endParaRPr lang="en-US" sz="1200" dirty="0"/>
          </a:p>
        </p:txBody>
      </p:sp>
      <p:sp>
        <p:nvSpPr>
          <p:cNvPr id="29" name="Shape 22"/>
          <p:cNvSpPr/>
          <p:nvPr/>
        </p:nvSpPr>
        <p:spPr>
          <a:xfrm>
            <a:off x="7927975" y="2766566"/>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30" name="Image 5" descr="Verified"/>
          <p:cNvPicPr>
            <a:picLocks noChangeAspect="1"/>
          </p:cNvPicPr>
          <p:nvPr/>
        </p:nvPicPr>
        <p:blipFill>
          <a:blip r:embed="rId8"/>
          <a:srcRect/>
          <a:stretch/>
        </p:blipFill>
        <p:spPr>
          <a:xfrm>
            <a:off x="8083550" y="2896741"/>
            <a:ext cx="279400" cy="279400"/>
          </a:xfrm>
          <a:prstGeom prst="rect">
            <a:avLst/>
          </a:prstGeom>
        </p:spPr>
      </p:pic>
      <p:sp>
        <p:nvSpPr>
          <p:cNvPr id="31" name="Text 23"/>
          <p:cNvSpPr/>
          <p:nvPr/>
        </p:nvSpPr>
        <p:spPr>
          <a:xfrm>
            <a:off x="8464550" y="2896741"/>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AUD-01</a:t>
            </a:r>
            <a:endParaRPr lang="en-US" sz="1200" dirty="0"/>
          </a:p>
        </p:txBody>
      </p:sp>
      <p:sp>
        <p:nvSpPr>
          <p:cNvPr id="32" name="Text 24"/>
          <p:cNvSpPr/>
          <p:nvPr/>
        </p:nvSpPr>
        <p:spPr>
          <a:xfrm>
            <a:off x="8464550" y="3135461"/>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Auditoría</a:t>
            </a:r>
            <a:endParaRPr lang="en-US" sz="1600" dirty="0"/>
          </a:p>
        </p:txBody>
      </p:sp>
      <p:sp>
        <p:nvSpPr>
          <p:cNvPr id="33" name="Text 25"/>
          <p:cNvSpPr/>
          <p:nvPr/>
        </p:nvSpPr>
        <p:spPr>
          <a:xfrm>
            <a:off x="8464550" y="3384352"/>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Auditoría no editable</a:t>
            </a:r>
            <a:endParaRPr lang="en-US" sz="1200" dirty="0"/>
          </a:p>
        </p:txBody>
      </p:sp>
      <p:sp>
        <p:nvSpPr>
          <p:cNvPr id="34" name="Shape 26"/>
          <p:cNvSpPr/>
          <p:nvPr/>
        </p:nvSpPr>
        <p:spPr>
          <a:xfrm>
            <a:off x="815975" y="3828207"/>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35" name="Image 6" descr="Code"/>
          <p:cNvPicPr>
            <a:picLocks noChangeAspect="1"/>
          </p:cNvPicPr>
          <p:nvPr/>
        </p:nvPicPr>
        <p:blipFill>
          <a:blip r:embed="rId9"/>
          <a:srcRect/>
          <a:stretch/>
        </p:blipFill>
        <p:spPr>
          <a:xfrm>
            <a:off x="971550" y="3958382"/>
            <a:ext cx="279400" cy="279400"/>
          </a:xfrm>
          <a:prstGeom prst="rect">
            <a:avLst/>
          </a:prstGeom>
        </p:spPr>
      </p:pic>
      <p:sp>
        <p:nvSpPr>
          <p:cNvPr id="36" name="Text 27"/>
          <p:cNvSpPr/>
          <p:nvPr/>
        </p:nvSpPr>
        <p:spPr>
          <a:xfrm>
            <a:off x="1352550" y="3958382"/>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API-01</a:t>
            </a:r>
            <a:endParaRPr lang="en-US" sz="1200" dirty="0"/>
          </a:p>
        </p:txBody>
      </p:sp>
      <p:sp>
        <p:nvSpPr>
          <p:cNvPr id="37" name="Text 28"/>
          <p:cNvSpPr/>
          <p:nvPr/>
        </p:nvSpPr>
        <p:spPr>
          <a:xfrm>
            <a:off x="1352550" y="4197102"/>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API</a:t>
            </a:r>
            <a:endParaRPr lang="en-US" sz="1600" dirty="0"/>
          </a:p>
        </p:txBody>
      </p:sp>
      <p:sp>
        <p:nvSpPr>
          <p:cNvPr id="38" name="Text 29"/>
          <p:cNvSpPr/>
          <p:nvPr/>
        </p:nvSpPr>
        <p:spPr>
          <a:xfrm>
            <a:off x="1352550" y="4445992"/>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API documentada</a:t>
            </a:r>
            <a:endParaRPr lang="en-US" sz="1200" dirty="0"/>
          </a:p>
        </p:txBody>
      </p:sp>
      <p:sp>
        <p:nvSpPr>
          <p:cNvPr id="39" name="Shape 30"/>
          <p:cNvSpPr/>
          <p:nvPr/>
        </p:nvSpPr>
        <p:spPr>
          <a:xfrm>
            <a:off x="4371975" y="3828207"/>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40" name="Image 7" descr="Settings"/>
          <p:cNvPicPr>
            <a:picLocks noChangeAspect="1"/>
          </p:cNvPicPr>
          <p:nvPr/>
        </p:nvPicPr>
        <p:blipFill>
          <a:blip r:embed="rId10"/>
          <a:srcRect/>
          <a:stretch/>
        </p:blipFill>
        <p:spPr>
          <a:xfrm>
            <a:off x="4527550" y="3958382"/>
            <a:ext cx="279400" cy="279400"/>
          </a:xfrm>
          <a:prstGeom prst="rect">
            <a:avLst/>
          </a:prstGeom>
        </p:spPr>
      </p:pic>
      <p:sp>
        <p:nvSpPr>
          <p:cNvPr id="41" name="Text 31"/>
          <p:cNvSpPr/>
          <p:nvPr/>
        </p:nvSpPr>
        <p:spPr>
          <a:xfrm>
            <a:off x="4908550" y="3958382"/>
            <a:ext cx="28385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PRO-01</a:t>
            </a:r>
            <a:endParaRPr lang="en-US" sz="1200" dirty="0"/>
          </a:p>
        </p:txBody>
      </p:sp>
      <p:sp>
        <p:nvSpPr>
          <p:cNvPr id="42" name="Text 32"/>
          <p:cNvSpPr/>
          <p:nvPr/>
        </p:nvSpPr>
        <p:spPr>
          <a:xfrm>
            <a:off x="4908550" y="4197102"/>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Procesos automáticos</a:t>
            </a:r>
            <a:endParaRPr lang="en-US" sz="1600" dirty="0"/>
          </a:p>
        </p:txBody>
      </p:sp>
      <p:sp>
        <p:nvSpPr>
          <p:cNvPr id="43" name="Text 33"/>
          <p:cNvSpPr/>
          <p:nvPr/>
        </p:nvSpPr>
        <p:spPr>
          <a:xfrm>
            <a:off x="4908550" y="4445992"/>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Control del estado de los procesos</a:t>
            </a:r>
            <a:endParaRPr lang="en-US" sz="1200" dirty="0"/>
          </a:p>
        </p:txBody>
      </p:sp>
      <p:sp>
        <p:nvSpPr>
          <p:cNvPr id="44" name="Shape 34"/>
          <p:cNvSpPr/>
          <p:nvPr/>
        </p:nvSpPr>
        <p:spPr>
          <a:xfrm>
            <a:off x="7927975" y="3828207"/>
            <a:ext cx="3448050" cy="953691"/>
          </a:xfrm>
          <a:prstGeom prst="roundRect">
            <a:avLst>
              <a:gd name="adj" fmla="val 7657"/>
            </a:avLst>
          </a:prstGeom>
          <a:solidFill>
            <a:srgbClr val="FDFDFB"/>
          </a:solidFill>
          <a:ln w="6350">
            <a:solidFill>
              <a:srgbClr val="D5DCE4"/>
            </a:solidFill>
            <a:prstDash val="solid"/>
          </a:ln>
        </p:spPr>
        <p:txBody>
          <a:bodyPr/>
          <a:lstStyle/>
          <a:p>
            <a:endParaRPr lang="es-ES"/>
          </a:p>
        </p:txBody>
      </p:sp>
      <p:pic>
        <p:nvPicPr>
          <p:cNvPr id="45" name="Image 8" descr="Cloud"/>
          <p:cNvPicPr>
            <a:picLocks noChangeAspect="1"/>
          </p:cNvPicPr>
          <p:nvPr/>
        </p:nvPicPr>
        <p:blipFill>
          <a:blip r:embed="rId11"/>
          <a:srcRect/>
          <a:stretch/>
        </p:blipFill>
        <p:spPr>
          <a:xfrm>
            <a:off x="8083550" y="3958382"/>
            <a:ext cx="279400" cy="279400"/>
          </a:xfrm>
          <a:prstGeom prst="rect">
            <a:avLst/>
          </a:prstGeom>
        </p:spPr>
      </p:pic>
      <p:sp>
        <p:nvSpPr>
          <p:cNvPr id="46" name="Text 35"/>
          <p:cNvSpPr/>
          <p:nvPr/>
        </p:nvSpPr>
        <p:spPr>
          <a:xfrm>
            <a:off x="8464550" y="3958382"/>
            <a:ext cx="2838577" cy="238720"/>
          </a:xfrm>
          <a:prstGeom prst="rect">
            <a:avLst/>
          </a:prstGeom>
          <a:noFill/>
          <a:ln/>
        </p:spPr>
        <p:txBody>
          <a:bodyPr wrap="square" lIns="0" tIns="0" rIns="0" bIns="0" rtlCol="0" anchor="t">
            <a:normAutofit/>
          </a:bodyPr>
          <a:lstStyle/>
          <a:p>
            <a:r>
              <a:rPr lang="es-ES" sz="1200" b="1" dirty="0">
                <a:solidFill>
                  <a:schemeClr val="accent1"/>
                </a:solidFill>
              </a:rPr>
              <a:t>PRO-05</a:t>
            </a:r>
            <a:endParaRPr lang="en-US" sz="1200" b="1" dirty="0">
              <a:solidFill>
                <a:schemeClr val="accent1"/>
              </a:solidFill>
            </a:endParaRPr>
          </a:p>
        </p:txBody>
      </p:sp>
      <p:sp>
        <p:nvSpPr>
          <p:cNvPr id="47" name="Text 36"/>
          <p:cNvSpPr/>
          <p:nvPr/>
        </p:nvSpPr>
        <p:spPr>
          <a:xfrm>
            <a:off x="8464550" y="4197102"/>
            <a:ext cx="2838577" cy="248890"/>
          </a:xfrm>
          <a:prstGeom prst="rect">
            <a:avLst/>
          </a:prstGeom>
          <a:noFill/>
          <a:ln/>
        </p:spPr>
        <p:txBody>
          <a:bodyPr wrap="square" lIns="0" tIns="0" rIns="0" bIns="0" rtlCol="0" anchor="t">
            <a:normAutofit/>
          </a:bodyPr>
          <a:lstStyle/>
          <a:p>
            <a:pPr marL="0" indent="0" algn="l">
              <a:lnSpc>
                <a:spcPts val="1760"/>
              </a:lnSpc>
              <a:buNone/>
            </a:pPr>
            <a:r>
              <a:rPr lang="en-US" sz="1600" b="1" dirty="0">
                <a:solidFill>
                  <a:srgbClr val="14213D"/>
                </a:solidFill>
                <a:latin typeface="Georgia" pitchFamily="18" charset="0"/>
                <a:ea typeface="Georgia" pitchFamily="18" charset="-122"/>
                <a:cs typeface="Georgia" pitchFamily="18" charset="-120"/>
              </a:rPr>
              <a:t>Copias de seguridad</a:t>
            </a:r>
            <a:endParaRPr lang="en-US" sz="1600" dirty="0"/>
          </a:p>
        </p:txBody>
      </p:sp>
      <p:sp>
        <p:nvSpPr>
          <p:cNvPr id="48" name="Text 37"/>
          <p:cNvSpPr/>
          <p:nvPr/>
        </p:nvSpPr>
        <p:spPr>
          <a:xfrm>
            <a:off x="8464550" y="4445992"/>
            <a:ext cx="2838577" cy="23113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F4F63"/>
                </a:solidFill>
                <a:latin typeface="Arial" pitchFamily="34" charset="0"/>
                <a:ea typeface="Arial" pitchFamily="34" charset="-122"/>
                <a:cs typeface="Arial" pitchFamily="34" charset="-120"/>
              </a:rPr>
              <a:t>Respaldo de la información</a:t>
            </a:r>
            <a:endParaRPr lang="en-US" sz="1200" dirty="0"/>
          </a:p>
        </p:txBody>
      </p:sp>
      <p:sp>
        <p:nvSpPr>
          <p:cNvPr id="49" name="Text 3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50" name="Text 3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8 / 12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B7F"/>
                </a:solidFill>
                <a:latin typeface="Arial" pitchFamily="34" charset="0"/>
                <a:ea typeface="Arial" pitchFamily="34" charset="-122"/>
                <a:cs typeface="Arial" pitchFamily="34" charset="-120"/>
              </a:rPr>
              <a:t>REQUISITOS NO FUNCIONALES</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Cómo debe comportarse el sistema</a:t>
            </a:r>
            <a:endParaRPr lang="en-US" sz="3200" dirty="0"/>
          </a:p>
        </p:txBody>
      </p:sp>
      <p:sp>
        <p:nvSpPr>
          <p:cNvPr id="4" name="Shape 2"/>
          <p:cNvSpPr/>
          <p:nvPr/>
        </p:nvSpPr>
        <p:spPr>
          <a:xfrm>
            <a:off x="815975" y="1704925"/>
            <a:ext cx="3431084" cy="1690291"/>
          </a:xfrm>
          <a:prstGeom prst="roundRect">
            <a:avLst>
              <a:gd name="adj" fmla="val 4320"/>
            </a:avLst>
          </a:prstGeom>
          <a:solidFill>
            <a:srgbClr val="FDFDFB"/>
          </a:solidFill>
          <a:ln w="6350">
            <a:solidFill>
              <a:srgbClr val="D5DCE4"/>
            </a:solidFill>
            <a:prstDash val="solid"/>
          </a:ln>
        </p:spPr>
        <p:txBody>
          <a:bodyPr/>
          <a:lstStyle/>
          <a:p>
            <a:endParaRPr lang="es-ES"/>
          </a:p>
        </p:txBody>
      </p:sp>
      <p:pic>
        <p:nvPicPr>
          <p:cNvPr id="5" name="Image 0" descr="Lightning"/>
          <p:cNvPicPr>
            <a:picLocks noChangeAspect="1"/>
          </p:cNvPicPr>
          <p:nvPr/>
        </p:nvPicPr>
        <p:blipFill>
          <a:blip r:embed="rId3"/>
          <a:srcRect t="-69" b="-69"/>
          <a:stretch/>
        </p:blipFill>
        <p:spPr>
          <a:xfrm>
            <a:off x="971550" y="1955750"/>
            <a:ext cx="215602" cy="228600"/>
          </a:xfrm>
          <a:prstGeom prst="rect">
            <a:avLst/>
          </a:prstGeom>
        </p:spPr>
      </p:pic>
      <p:sp>
        <p:nvSpPr>
          <p:cNvPr id="6" name="Text 3"/>
          <p:cNvSpPr/>
          <p:nvPr/>
        </p:nvSpPr>
        <p:spPr>
          <a:xfrm>
            <a:off x="1263352" y="1860500"/>
            <a:ext cx="2912975" cy="444500"/>
          </a:xfrm>
          <a:prstGeom prst="rect">
            <a:avLst/>
          </a:prstGeom>
          <a:noFill/>
          <a:ln/>
        </p:spPr>
        <p:txBody>
          <a:bodyPr wrap="square" lIns="0" tIns="0" rIns="0" bIns="0" rtlCol="0" anchor="t">
            <a:normAutofit/>
          </a:bodyPr>
          <a:lstStyle/>
          <a:p>
            <a:pPr marL="0" indent="0" algn="l">
              <a:lnSpc>
                <a:spcPts val="1650"/>
              </a:lnSpc>
              <a:buNone/>
            </a:pPr>
            <a:r>
              <a:rPr lang="en-US" sz="1500" b="1" dirty="0">
                <a:solidFill>
                  <a:srgbClr val="14213D"/>
                </a:solidFill>
                <a:latin typeface="Georgia" pitchFamily="18" charset="0"/>
                <a:ea typeface="Georgia" pitchFamily="18" charset="-122"/>
                <a:cs typeface="Georgia" pitchFamily="18" charset="-120"/>
              </a:rPr>
              <a:t>Rendimiento y mantenibilidad</a:t>
            </a:r>
            <a:endParaRPr lang="en-US" sz="1500" dirty="0"/>
          </a:p>
        </p:txBody>
      </p:sp>
      <p:sp>
        <p:nvSpPr>
          <p:cNvPr id="7" name="Text 4"/>
          <p:cNvSpPr/>
          <p:nvPr/>
        </p:nvSpPr>
        <p:spPr>
          <a:xfrm>
            <a:off x="1083056" y="2355800"/>
            <a:ext cx="3094406" cy="909241"/>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Operaciones habituales rápidas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Procesos pesados en segundo plano</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Búsquedas eficientes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Preparado para evolucionar</a:t>
            </a:r>
            <a:endParaRPr lang="en-US" sz="1200" dirty="0"/>
          </a:p>
        </p:txBody>
      </p:sp>
      <p:sp>
        <p:nvSpPr>
          <p:cNvPr id="8" name="Shape 5"/>
          <p:cNvSpPr/>
          <p:nvPr/>
        </p:nvSpPr>
        <p:spPr>
          <a:xfrm>
            <a:off x="4380409" y="1704925"/>
            <a:ext cx="3431133" cy="1690291"/>
          </a:xfrm>
          <a:prstGeom prst="roundRect">
            <a:avLst>
              <a:gd name="adj" fmla="val 4320"/>
            </a:avLst>
          </a:prstGeom>
          <a:solidFill>
            <a:srgbClr val="FDFDFB"/>
          </a:solidFill>
          <a:ln w="6350">
            <a:solidFill>
              <a:srgbClr val="D5DCE4"/>
            </a:solidFill>
            <a:prstDash val="solid"/>
          </a:ln>
        </p:spPr>
        <p:txBody>
          <a:bodyPr/>
          <a:lstStyle/>
          <a:p>
            <a:endParaRPr lang="es-ES"/>
          </a:p>
        </p:txBody>
      </p:sp>
      <p:pic>
        <p:nvPicPr>
          <p:cNvPr id="9" name="Image 1" descr="Globe"/>
          <p:cNvPicPr>
            <a:picLocks noChangeAspect="1"/>
          </p:cNvPicPr>
          <p:nvPr/>
        </p:nvPicPr>
        <p:blipFill>
          <a:blip r:embed="rId4"/>
          <a:srcRect/>
          <a:stretch/>
        </p:blipFill>
        <p:spPr>
          <a:xfrm>
            <a:off x="4535984" y="1860500"/>
            <a:ext cx="228600" cy="228600"/>
          </a:xfrm>
          <a:prstGeom prst="rect">
            <a:avLst/>
          </a:prstGeom>
        </p:spPr>
      </p:pic>
      <p:sp>
        <p:nvSpPr>
          <p:cNvPr id="10" name="Text 6"/>
          <p:cNvSpPr/>
          <p:nvPr/>
        </p:nvSpPr>
        <p:spPr>
          <a:xfrm>
            <a:off x="4840784" y="1870025"/>
            <a:ext cx="2967583" cy="234950"/>
          </a:xfrm>
          <a:prstGeom prst="rect">
            <a:avLst/>
          </a:prstGeom>
          <a:noFill/>
          <a:ln/>
        </p:spPr>
        <p:txBody>
          <a:bodyPr wrap="square" lIns="0" tIns="0" rIns="0" bIns="0" rtlCol="0" anchor="t">
            <a:normAutofit/>
          </a:bodyPr>
          <a:lstStyle/>
          <a:p>
            <a:pPr marL="0" indent="0" algn="l">
              <a:lnSpc>
                <a:spcPts val="1650"/>
              </a:lnSpc>
              <a:buNone/>
            </a:pPr>
            <a:r>
              <a:rPr lang="en-US" sz="1500" b="1" dirty="0">
                <a:solidFill>
                  <a:srgbClr val="14213D"/>
                </a:solidFill>
                <a:latin typeface="Georgia" pitchFamily="18" charset="0"/>
                <a:ea typeface="Georgia" pitchFamily="18" charset="-122"/>
                <a:cs typeface="Georgia" pitchFamily="18" charset="-120"/>
              </a:rPr>
              <a:t>Portabilidad y escalabilidad</a:t>
            </a:r>
            <a:endParaRPr lang="en-US" sz="1500" dirty="0"/>
          </a:p>
        </p:txBody>
      </p:sp>
      <p:sp>
        <p:nvSpPr>
          <p:cNvPr id="11" name="Text 7"/>
          <p:cNvSpPr/>
          <p:nvPr/>
        </p:nvSpPr>
        <p:spPr>
          <a:xfrm>
            <a:off x="4647490" y="2165300"/>
            <a:ext cx="3094457" cy="909241"/>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Ordenadores y dispositivos móviles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Navegadores modernos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Acceso desde distintas ubicaciones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Soporta aumento de carga</a:t>
            </a:r>
            <a:endParaRPr lang="en-US" sz="1200" dirty="0"/>
          </a:p>
        </p:txBody>
      </p:sp>
      <p:sp>
        <p:nvSpPr>
          <p:cNvPr id="12" name="Shape 8"/>
          <p:cNvSpPr/>
          <p:nvPr/>
        </p:nvSpPr>
        <p:spPr>
          <a:xfrm>
            <a:off x="7944892" y="1704925"/>
            <a:ext cx="3431084" cy="1690291"/>
          </a:xfrm>
          <a:prstGeom prst="roundRect">
            <a:avLst>
              <a:gd name="adj" fmla="val 4320"/>
            </a:avLst>
          </a:prstGeom>
          <a:solidFill>
            <a:srgbClr val="FDFDFB"/>
          </a:solidFill>
          <a:ln w="6350">
            <a:solidFill>
              <a:srgbClr val="D5DCE4"/>
            </a:solidFill>
            <a:prstDash val="solid"/>
          </a:ln>
        </p:spPr>
        <p:txBody>
          <a:bodyPr/>
          <a:lstStyle/>
          <a:p>
            <a:endParaRPr lang="es-ES"/>
          </a:p>
        </p:txBody>
      </p:sp>
      <p:pic>
        <p:nvPicPr>
          <p:cNvPr id="13" name="Image 2" descr="ThumbsUp"/>
          <p:cNvPicPr>
            <a:picLocks noChangeAspect="1"/>
          </p:cNvPicPr>
          <p:nvPr/>
        </p:nvPicPr>
        <p:blipFill>
          <a:blip r:embed="rId5"/>
          <a:srcRect/>
          <a:stretch/>
        </p:blipFill>
        <p:spPr>
          <a:xfrm>
            <a:off x="8100467" y="1860500"/>
            <a:ext cx="228600" cy="228600"/>
          </a:xfrm>
          <a:prstGeom prst="rect">
            <a:avLst/>
          </a:prstGeom>
        </p:spPr>
      </p:pic>
      <p:sp>
        <p:nvSpPr>
          <p:cNvPr id="14" name="Text 9"/>
          <p:cNvSpPr/>
          <p:nvPr/>
        </p:nvSpPr>
        <p:spPr>
          <a:xfrm>
            <a:off x="8405267" y="1870025"/>
            <a:ext cx="2967534" cy="234950"/>
          </a:xfrm>
          <a:prstGeom prst="rect">
            <a:avLst/>
          </a:prstGeom>
          <a:noFill/>
          <a:ln/>
        </p:spPr>
        <p:txBody>
          <a:bodyPr wrap="square" lIns="0" tIns="0" rIns="0" bIns="0" rtlCol="0" anchor="t">
            <a:normAutofit/>
          </a:bodyPr>
          <a:lstStyle/>
          <a:p>
            <a:pPr marL="0" indent="0" algn="l">
              <a:lnSpc>
                <a:spcPts val="1650"/>
              </a:lnSpc>
              <a:buNone/>
            </a:pPr>
            <a:r>
              <a:rPr lang="en-US" sz="1500" b="1" dirty="0">
                <a:solidFill>
                  <a:srgbClr val="14213D"/>
                </a:solidFill>
                <a:latin typeface="Georgia" pitchFamily="18" charset="0"/>
                <a:ea typeface="Georgia" pitchFamily="18" charset="-122"/>
                <a:cs typeface="Georgia" pitchFamily="18" charset="-120"/>
              </a:rPr>
              <a:t>Accesibilidad y adaptación</a:t>
            </a:r>
            <a:endParaRPr lang="en-US" sz="1500" dirty="0"/>
          </a:p>
        </p:txBody>
      </p:sp>
      <p:sp>
        <p:nvSpPr>
          <p:cNvPr id="15" name="Text 10"/>
          <p:cNvSpPr/>
          <p:nvPr/>
        </p:nvSpPr>
        <p:spPr>
          <a:xfrm>
            <a:off x="8211973" y="2165300"/>
            <a:ext cx="3094406" cy="909241"/>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Interfaz sencilla</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Pocos clics y textos claros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Sin menús excesivamente profundos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Idioma configurable</a:t>
            </a:r>
            <a:endParaRPr lang="en-US" sz="1200" dirty="0"/>
          </a:p>
        </p:txBody>
      </p:sp>
      <p:sp>
        <p:nvSpPr>
          <p:cNvPr id="16" name="Shape 11"/>
          <p:cNvSpPr/>
          <p:nvPr/>
        </p:nvSpPr>
        <p:spPr>
          <a:xfrm>
            <a:off x="815975" y="3528566"/>
            <a:ext cx="3431084" cy="1720751"/>
          </a:xfrm>
          <a:prstGeom prst="roundRect">
            <a:avLst>
              <a:gd name="adj" fmla="val 4244"/>
            </a:avLst>
          </a:prstGeom>
          <a:solidFill>
            <a:srgbClr val="FDFDFB"/>
          </a:solidFill>
          <a:ln w="6350">
            <a:solidFill>
              <a:srgbClr val="D5DCE4"/>
            </a:solidFill>
            <a:prstDash val="solid"/>
          </a:ln>
        </p:spPr>
        <p:txBody>
          <a:bodyPr/>
          <a:lstStyle/>
          <a:p>
            <a:endParaRPr lang="es-ES"/>
          </a:p>
        </p:txBody>
      </p:sp>
      <p:pic>
        <p:nvPicPr>
          <p:cNvPr id="17" name="Image 3" descr="CheckCircle"/>
          <p:cNvPicPr>
            <a:picLocks noChangeAspect="1"/>
          </p:cNvPicPr>
          <p:nvPr/>
        </p:nvPicPr>
        <p:blipFill>
          <a:blip r:embed="rId6"/>
          <a:srcRect/>
          <a:stretch/>
        </p:blipFill>
        <p:spPr>
          <a:xfrm>
            <a:off x="971550" y="3684141"/>
            <a:ext cx="228600" cy="228600"/>
          </a:xfrm>
          <a:prstGeom prst="rect">
            <a:avLst/>
          </a:prstGeom>
        </p:spPr>
      </p:pic>
      <p:sp>
        <p:nvSpPr>
          <p:cNvPr id="18" name="Text 12"/>
          <p:cNvSpPr/>
          <p:nvPr/>
        </p:nvSpPr>
        <p:spPr>
          <a:xfrm>
            <a:off x="1276350" y="3693666"/>
            <a:ext cx="2926080" cy="234950"/>
          </a:xfrm>
          <a:prstGeom prst="rect">
            <a:avLst/>
          </a:prstGeom>
          <a:noFill/>
          <a:ln/>
        </p:spPr>
        <p:txBody>
          <a:bodyPr wrap="square" lIns="0" tIns="0" rIns="0" bIns="0" rtlCol="0" anchor="t">
            <a:normAutofit/>
          </a:bodyPr>
          <a:lstStyle/>
          <a:p>
            <a:pPr marL="0" indent="0" algn="l">
              <a:lnSpc>
                <a:spcPts val="1650"/>
              </a:lnSpc>
              <a:buNone/>
            </a:pPr>
            <a:r>
              <a:rPr lang="en-US" sz="1500" b="1" dirty="0">
                <a:solidFill>
                  <a:srgbClr val="14213D"/>
                </a:solidFill>
                <a:latin typeface="Georgia" pitchFamily="18" charset="0"/>
                <a:ea typeface="Georgia" pitchFamily="18" charset="-122"/>
                <a:cs typeface="Georgia" pitchFamily="18" charset="-120"/>
              </a:rPr>
              <a:t>Integridad y trazabilidad</a:t>
            </a:r>
            <a:endParaRPr lang="en-US" sz="1500" dirty="0"/>
          </a:p>
        </p:txBody>
      </p:sp>
      <p:sp>
        <p:nvSpPr>
          <p:cNvPr id="19" name="Text 13"/>
          <p:cNvSpPr/>
          <p:nvPr/>
        </p:nvSpPr>
        <p:spPr>
          <a:xfrm>
            <a:off x="1083056" y="3988941"/>
            <a:ext cx="3094406" cy="1130201"/>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Registro de operaciones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Copias de seguridad</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Prevención de duplicados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Precisión en importes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Reintentos seguros</a:t>
            </a:r>
            <a:endParaRPr lang="en-US" sz="1200" dirty="0"/>
          </a:p>
        </p:txBody>
      </p:sp>
      <p:sp>
        <p:nvSpPr>
          <p:cNvPr id="20" name="Shape 14"/>
          <p:cNvSpPr/>
          <p:nvPr/>
        </p:nvSpPr>
        <p:spPr>
          <a:xfrm>
            <a:off x="4380409" y="3528566"/>
            <a:ext cx="3431133" cy="1720751"/>
          </a:xfrm>
          <a:prstGeom prst="roundRect">
            <a:avLst>
              <a:gd name="adj" fmla="val 4244"/>
            </a:avLst>
          </a:prstGeom>
          <a:solidFill>
            <a:srgbClr val="FDFDFB"/>
          </a:solidFill>
          <a:ln w="6350">
            <a:solidFill>
              <a:srgbClr val="D5DCE4"/>
            </a:solidFill>
            <a:prstDash val="solid"/>
          </a:ln>
        </p:spPr>
        <p:txBody>
          <a:bodyPr/>
          <a:lstStyle/>
          <a:p>
            <a:endParaRPr lang="es-ES"/>
          </a:p>
        </p:txBody>
      </p:sp>
      <p:pic>
        <p:nvPicPr>
          <p:cNvPr id="21" name="Image 4" descr="Lock"/>
          <p:cNvPicPr>
            <a:picLocks noChangeAspect="1"/>
          </p:cNvPicPr>
          <p:nvPr/>
        </p:nvPicPr>
        <p:blipFill>
          <a:blip r:embed="rId7"/>
          <a:srcRect/>
          <a:stretch/>
        </p:blipFill>
        <p:spPr>
          <a:xfrm>
            <a:off x="4535984" y="3684141"/>
            <a:ext cx="228600" cy="228600"/>
          </a:xfrm>
          <a:prstGeom prst="rect">
            <a:avLst/>
          </a:prstGeom>
        </p:spPr>
      </p:pic>
      <p:sp>
        <p:nvSpPr>
          <p:cNvPr id="22" name="Text 15"/>
          <p:cNvSpPr/>
          <p:nvPr/>
        </p:nvSpPr>
        <p:spPr>
          <a:xfrm>
            <a:off x="4840784" y="3693666"/>
            <a:ext cx="1204615" cy="234950"/>
          </a:xfrm>
          <a:prstGeom prst="rect">
            <a:avLst/>
          </a:prstGeom>
          <a:noFill/>
          <a:ln/>
        </p:spPr>
        <p:txBody>
          <a:bodyPr wrap="square" lIns="0" tIns="0" rIns="0" bIns="0" rtlCol="0" anchor="t">
            <a:normAutofit/>
          </a:bodyPr>
          <a:lstStyle/>
          <a:p>
            <a:pPr marL="0" indent="0" algn="l">
              <a:lnSpc>
                <a:spcPts val="1650"/>
              </a:lnSpc>
              <a:buNone/>
            </a:pPr>
            <a:r>
              <a:rPr lang="en-US" sz="1500" b="1" dirty="0">
                <a:solidFill>
                  <a:srgbClr val="14213D"/>
                </a:solidFill>
                <a:latin typeface="Georgia" pitchFamily="18" charset="0"/>
                <a:ea typeface="Georgia" pitchFamily="18" charset="-122"/>
                <a:cs typeface="Georgia" pitchFamily="18" charset="-120"/>
              </a:rPr>
              <a:t>Seguridad</a:t>
            </a:r>
            <a:endParaRPr lang="en-US" sz="1500" dirty="0"/>
          </a:p>
        </p:txBody>
      </p:sp>
      <p:sp>
        <p:nvSpPr>
          <p:cNvPr id="23" name="Text 16"/>
          <p:cNvSpPr/>
          <p:nvPr/>
        </p:nvSpPr>
        <p:spPr>
          <a:xfrm>
            <a:off x="4647490" y="3988941"/>
            <a:ext cx="3094457" cy="1130201"/>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Caducidad de sesión</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Control de permisos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Comunicaciones cifradas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Contraseñas protegidas</a:t>
            </a:r>
            <a:endParaRPr lang="en-US" sz="1200" dirty="0"/>
          </a:p>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URLs y documentos protegidos</a:t>
            </a:r>
            <a:endParaRPr lang="en-US" sz="1200" dirty="0"/>
          </a:p>
        </p:txBody>
      </p:sp>
      <p:sp>
        <p:nvSpPr>
          <p:cNvPr id="24" name="Shape 17"/>
          <p:cNvSpPr/>
          <p:nvPr/>
        </p:nvSpPr>
        <p:spPr>
          <a:xfrm>
            <a:off x="7944892" y="3528566"/>
            <a:ext cx="3431084" cy="1720751"/>
          </a:xfrm>
          <a:prstGeom prst="roundRect">
            <a:avLst>
              <a:gd name="adj" fmla="val 4244"/>
            </a:avLst>
          </a:prstGeom>
          <a:solidFill>
            <a:srgbClr val="FDFDFB"/>
          </a:solidFill>
          <a:ln w="6350">
            <a:solidFill>
              <a:srgbClr val="D5DCE4"/>
            </a:solidFill>
            <a:prstDash val="solid"/>
          </a:ln>
        </p:spPr>
        <p:txBody>
          <a:bodyPr/>
          <a:lstStyle/>
          <a:p>
            <a:endParaRPr lang="es-ES"/>
          </a:p>
        </p:txBody>
      </p:sp>
      <p:pic>
        <p:nvPicPr>
          <p:cNvPr id="25" name="Image 5" descr="Book"/>
          <p:cNvPicPr>
            <a:picLocks noChangeAspect="1"/>
          </p:cNvPicPr>
          <p:nvPr/>
        </p:nvPicPr>
        <p:blipFill>
          <a:blip r:embed="rId8"/>
          <a:srcRect/>
          <a:stretch/>
        </p:blipFill>
        <p:spPr>
          <a:xfrm>
            <a:off x="8100467" y="3684141"/>
            <a:ext cx="228600" cy="228600"/>
          </a:xfrm>
          <a:prstGeom prst="rect">
            <a:avLst/>
          </a:prstGeom>
        </p:spPr>
      </p:pic>
      <p:sp>
        <p:nvSpPr>
          <p:cNvPr id="26" name="Text 18"/>
          <p:cNvSpPr/>
          <p:nvPr/>
        </p:nvSpPr>
        <p:spPr>
          <a:xfrm>
            <a:off x="8405267" y="3693666"/>
            <a:ext cx="1337489" cy="234950"/>
          </a:xfrm>
          <a:prstGeom prst="rect">
            <a:avLst/>
          </a:prstGeom>
          <a:noFill/>
          <a:ln/>
        </p:spPr>
        <p:txBody>
          <a:bodyPr wrap="square" lIns="0" tIns="0" rIns="0" bIns="0" rtlCol="0" anchor="t">
            <a:normAutofit/>
          </a:bodyPr>
          <a:lstStyle/>
          <a:p>
            <a:pPr marL="0" indent="0" algn="l">
              <a:lnSpc>
                <a:spcPts val="1650"/>
              </a:lnSpc>
              <a:buNone/>
            </a:pPr>
            <a:r>
              <a:rPr lang="en-US" sz="1500" b="1" dirty="0">
                <a:solidFill>
                  <a:srgbClr val="14213D"/>
                </a:solidFill>
                <a:latin typeface="Georgia" pitchFamily="18" charset="0"/>
                <a:ea typeface="Georgia" pitchFamily="18" charset="-122"/>
                <a:cs typeface="Georgia" pitchFamily="18" charset="-120"/>
              </a:rPr>
              <a:t>Legislación</a:t>
            </a:r>
            <a:endParaRPr lang="en-US" sz="1500" dirty="0"/>
          </a:p>
        </p:txBody>
      </p:sp>
      <p:sp>
        <p:nvSpPr>
          <p:cNvPr id="27" name="Text 19"/>
          <p:cNvSpPr/>
          <p:nvPr/>
        </p:nvSpPr>
        <p:spPr>
          <a:xfrm>
            <a:off x="8211973" y="3988941"/>
            <a:ext cx="3094406" cy="467320"/>
          </a:xfrm>
          <a:prstGeom prst="rect">
            <a:avLst/>
          </a:prstGeom>
          <a:noFill/>
          <a:ln/>
        </p:spPr>
        <p:txBody>
          <a:bodyPr wrap="square" lIns="0" tIns="0" rIns="0" bIns="0" rtlCol="0" anchor="t">
            <a:normAutofit/>
          </a:bodyPr>
          <a:lstStyle/>
          <a:p>
            <a:pPr marL="142494" indent="-142494" algn="l">
              <a:lnSpc>
                <a:spcPts val="1740"/>
              </a:lnSpc>
              <a:buSzPct val="100000"/>
              <a:buChar char="•"/>
            </a:pPr>
            <a:r>
              <a:rPr lang="en-US" sz="1200" dirty="0">
                <a:solidFill>
                  <a:srgbClr val="3F4F63"/>
                </a:solidFill>
                <a:latin typeface="Arial" pitchFamily="34" charset="0"/>
                <a:ea typeface="Arial" pitchFamily="34" charset="-122"/>
                <a:cs typeface="Arial" pitchFamily="34" charset="-120"/>
              </a:rPr>
              <a:t>Conservación y eliminación de datos conforme a la normativa</a:t>
            </a:r>
            <a:endParaRPr lang="en-US" sz="1200" dirty="0"/>
          </a:p>
        </p:txBody>
      </p:sp>
      <p:sp>
        <p:nvSpPr>
          <p:cNvPr id="28" name="Text 2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9 / 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A5"/>
                </a:solidFill>
                <a:latin typeface="Arial" pitchFamily="34" charset="0"/>
                <a:ea typeface="Arial" pitchFamily="34" charset="-122"/>
                <a:cs typeface="Arial" pitchFamily="34" charset="-120"/>
              </a:rPr>
              <a:t>RELACIÓN ENTRE REQUISITOS</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Trazabilidad: de la necesidad a la funcionalidad</a:t>
            </a:r>
            <a:endParaRPr lang="en-US" sz="3200" dirty="0"/>
          </a:p>
        </p:txBody>
      </p:sp>
      <p:sp>
        <p:nvSpPr>
          <p:cNvPr id="4" name="Text 2"/>
          <p:cNvSpPr/>
          <p:nvPr/>
        </p:nvSpPr>
        <p:spPr>
          <a:xfrm>
            <a:off x="812800" y="16509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B6B7F"/>
                </a:solidFill>
                <a:latin typeface="Arial" pitchFamily="34" charset="0"/>
                <a:ea typeface="Arial" pitchFamily="34" charset="-122"/>
                <a:cs typeface="Arial" pitchFamily="34" charset="-120"/>
              </a:rPr>
              <a:t>Ejemplo 1 · Control de permisos</a:t>
            </a:r>
            <a:endParaRPr lang="en-US" sz="1400" dirty="0"/>
          </a:p>
        </p:txBody>
      </p:sp>
      <p:sp>
        <p:nvSpPr>
          <p:cNvPr id="5" name="Shape 3"/>
          <p:cNvSpPr/>
          <p:nvPr/>
        </p:nvSpPr>
        <p:spPr>
          <a:xfrm>
            <a:off x="812800" y="2026841"/>
            <a:ext cx="2336800" cy="1237456"/>
          </a:xfrm>
          <a:prstGeom prst="roundRect">
            <a:avLst>
              <a:gd name="adj" fmla="val 6158"/>
            </a:avLst>
          </a:prstGeom>
          <a:solidFill>
            <a:srgbClr val="FDFDFB"/>
          </a:solidFill>
          <a:ln/>
        </p:spPr>
        <p:txBody>
          <a:bodyPr/>
          <a:lstStyle/>
          <a:p>
            <a:endParaRPr lang="es-ES"/>
          </a:p>
        </p:txBody>
      </p:sp>
      <p:sp>
        <p:nvSpPr>
          <p:cNvPr id="6" name="Shape 4"/>
          <p:cNvSpPr/>
          <p:nvPr/>
        </p:nvSpPr>
        <p:spPr>
          <a:xfrm>
            <a:off x="812800" y="2026841"/>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1D6FA5"/>
          </a:solidFill>
          <a:ln/>
        </p:spPr>
        <p:txBody>
          <a:bodyPr/>
          <a:lstStyle/>
          <a:p>
            <a:endParaRPr lang="es-ES"/>
          </a:p>
        </p:txBody>
      </p:sp>
      <p:sp>
        <p:nvSpPr>
          <p:cNvPr id="7" name="Text 5"/>
          <p:cNvSpPr/>
          <p:nvPr/>
        </p:nvSpPr>
        <p:spPr>
          <a:xfrm>
            <a:off x="939800" y="220464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Necesidad de negocio</a:t>
            </a:r>
            <a:endParaRPr lang="en-US" sz="1200" dirty="0"/>
          </a:p>
        </p:txBody>
      </p:sp>
      <p:sp>
        <p:nvSpPr>
          <p:cNvPr id="8" name="Text 6"/>
          <p:cNvSpPr/>
          <p:nvPr/>
        </p:nvSpPr>
        <p:spPr>
          <a:xfrm>
            <a:off x="939800" y="2468761"/>
            <a:ext cx="214528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Controlar quién puede realizar determinadas operaciones</a:t>
            </a:r>
            <a:endParaRPr lang="en-US" sz="1300" dirty="0"/>
          </a:p>
        </p:txBody>
      </p:sp>
      <p:pic>
        <p:nvPicPr>
          <p:cNvPr id="9" name="Image 0" descr="arrow-right"/>
          <p:cNvPicPr>
            <a:picLocks noChangeAspect="1"/>
          </p:cNvPicPr>
          <p:nvPr/>
        </p:nvPicPr>
        <p:blipFill>
          <a:blip r:embed="rId3"/>
          <a:srcRect/>
          <a:stretch/>
        </p:blipFill>
        <p:spPr>
          <a:xfrm>
            <a:off x="3225800" y="2569369"/>
            <a:ext cx="254000" cy="152400"/>
          </a:xfrm>
          <a:prstGeom prst="rect">
            <a:avLst/>
          </a:prstGeom>
        </p:spPr>
      </p:pic>
      <p:sp>
        <p:nvSpPr>
          <p:cNvPr id="10" name="Shape 7"/>
          <p:cNvSpPr/>
          <p:nvPr/>
        </p:nvSpPr>
        <p:spPr>
          <a:xfrm>
            <a:off x="3556000" y="2026841"/>
            <a:ext cx="2336800" cy="1237456"/>
          </a:xfrm>
          <a:prstGeom prst="roundRect">
            <a:avLst>
              <a:gd name="adj" fmla="val 6158"/>
            </a:avLst>
          </a:prstGeom>
          <a:solidFill>
            <a:srgbClr val="FDFDFB"/>
          </a:solidFill>
          <a:ln/>
        </p:spPr>
        <p:txBody>
          <a:bodyPr/>
          <a:lstStyle/>
          <a:p>
            <a:endParaRPr lang="es-ES"/>
          </a:p>
        </p:txBody>
      </p:sp>
      <p:sp>
        <p:nvSpPr>
          <p:cNvPr id="11" name="Shape 8"/>
          <p:cNvSpPr/>
          <p:nvPr/>
        </p:nvSpPr>
        <p:spPr>
          <a:xfrm>
            <a:off x="3556000" y="2026841"/>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C2610C"/>
          </a:solidFill>
          <a:ln/>
        </p:spPr>
        <p:txBody>
          <a:bodyPr/>
          <a:lstStyle/>
          <a:p>
            <a:endParaRPr lang="es-ES"/>
          </a:p>
        </p:txBody>
      </p:sp>
      <p:sp>
        <p:nvSpPr>
          <p:cNvPr id="12" name="Text 9"/>
          <p:cNvSpPr/>
          <p:nvPr/>
        </p:nvSpPr>
        <p:spPr>
          <a:xfrm>
            <a:off x="3683000" y="220464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Requisito de usuario</a:t>
            </a:r>
            <a:endParaRPr lang="en-US" sz="1200" dirty="0"/>
          </a:p>
        </p:txBody>
      </p:sp>
      <p:sp>
        <p:nvSpPr>
          <p:cNvPr id="13" name="Text 10"/>
          <p:cNvSpPr/>
          <p:nvPr/>
        </p:nvSpPr>
        <p:spPr>
          <a:xfrm>
            <a:off x="3683000" y="2468761"/>
            <a:ext cx="214528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El administrador gestiona los permisos de los usuarios</a:t>
            </a:r>
            <a:endParaRPr lang="en-US" sz="1300" dirty="0"/>
          </a:p>
        </p:txBody>
      </p:sp>
      <p:pic>
        <p:nvPicPr>
          <p:cNvPr id="14" name="Image 1" descr="arrow-right"/>
          <p:cNvPicPr>
            <a:picLocks noChangeAspect="1"/>
          </p:cNvPicPr>
          <p:nvPr/>
        </p:nvPicPr>
        <p:blipFill>
          <a:blip r:embed="rId3"/>
          <a:srcRect/>
          <a:stretch/>
        </p:blipFill>
        <p:spPr>
          <a:xfrm>
            <a:off x="5969000" y="2569369"/>
            <a:ext cx="254000" cy="152400"/>
          </a:xfrm>
          <a:prstGeom prst="rect">
            <a:avLst/>
          </a:prstGeom>
        </p:spPr>
      </p:pic>
      <p:sp>
        <p:nvSpPr>
          <p:cNvPr id="15" name="Shape 11"/>
          <p:cNvSpPr/>
          <p:nvPr/>
        </p:nvSpPr>
        <p:spPr>
          <a:xfrm>
            <a:off x="6299200" y="2026841"/>
            <a:ext cx="2336800" cy="1237456"/>
          </a:xfrm>
          <a:prstGeom prst="roundRect">
            <a:avLst>
              <a:gd name="adj" fmla="val 6158"/>
            </a:avLst>
          </a:prstGeom>
          <a:solidFill>
            <a:srgbClr val="FDFDFB"/>
          </a:solidFill>
          <a:ln/>
        </p:spPr>
        <p:txBody>
          <a:bodyPr/>
          <a:lstStyle/>
          <a:p>
            <a:endParaRPr lang="es-ES"/>
          </a:p>
        </p:txBody>
      </p:sp>
      <p:sp>
        <p:nvSpPr>
          <p:cNvPr id="16" name="Shape 12"/>
          <p:cNvSpPr/>
          <p:nvPr/>
        </p:nvSpPr>
        <p:spPr>
          <a:xfrm>
            <a:off x="6299200" y="2026841"/>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14213D"/>
          </a:solidFill>
          <a:ln/>
        </p:spPr>
        <p:txBody>
          <a:bodyPr/>
          <a:lstStyle/>
          <a:p>
            <a:endParaRPr lang="es-ES"/>
          </a:p>
        </p:txBody>
      </p:sp>
      <p:sp>
        <p:nvSpPr>
          <p:cNvPr id="17" name="Text 13"/>
          <p:cNvSpPr/>
          <p:nvPr/>
        </p:nvSpPr>
        <p:spPr>
          <a:xfrm>
            <a:off x="6426200" y="220464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Arial" pitchFamily="34" charset="0"/>
                <a:ea typeface="Arial" pitchFamily="34" charset="-122"/>
                <a:cs typeface="Arial" pitchFamily="34" charset="-120"/>
              </a:rPr>
              <a:t>Requisito funcional</a:t>
            </a:r>
            <a:endParaRPr lang="en-US" sz="1200" dirty="0"/>
          </a:p>
        </p:txBody>
      </p:sp>
      <p:sp>
        <p:nvSpPr>
          <p:cNvPr id="18" name="Text 14"/>
          <p:cNvSpPr/>
          <p:nvPr/>
        </p:nvSpPr>
        <p:spPr>
          <a:xfrm>
            <a:off x="6426200" y="2468761"/>
            <a:ext cx="2145284" cy="69393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Arial" pitchFamily="34" charset="0"/>
                <a:ea typeface="Arial" pitchFamily="34" charset="-122"/>
                <a:cs typeface="Arial" pitchFamily="34" charset="-120"/>
              </a:rPr>
              <a:t>USU-02</a:t>
            </a:r>
            <a:r>
              <a:rPr lang="en-US" sz="1300" dirty="0">
                <a:solidFill>
                  <a:srgbClr val="14213D"/>
                </a:solidFill>
                <a:latin typeface="Arial" pitchFamily="34" charset="0"/>
                <a:ea typeface="Arial" pitchFamily="34" charset="-122"/>
                <a:cs typeface="Arial" pitchFamily="34" charset="-120"/>
              </a:rPr>
              <a:t> · Sistema centralizado de roles y autorización</a:t>
            </a:r>
            <a:endParaRPr lang="en-US" sz="1300" dirty="0"/>
          </a:p>
        </p:txBody>
      </p:sp>
      <p:pic>
        <p:nvPicPr>
          <p:cNvPr id="19" name="Image 2" descr="arrow-right"/>
          <p:cNvPicPr>
            <a:picLocks noChangeAspect="1"/>
          </p:cNvPicPr>
          <p:nvPr/>
        </p:nvPicPr>
        <p:blipFill>
          <a:blip r:embed="rId3"/>
          <a:srcRect/>
          <a:stretch/>
        </p:blipFill>
        <p:spPr>
          <a:xfrm>
            <a:off x="8712200" y="2569369"/>
            <a:ext cx="254000" cy="152400"/>
          </a:xfrm>
          <a:prstGeom prst="rect">
            <a:avLst/>
          </a:prstGeom>
        </p:spPr>
      </p:pic>
      <p:sp>
        <p:nvSpPr>
          <p:cNvPr id="20" name="Shape 15"/>
          <p:cNvSpPr/>
          <p:nvPr/>
        </p:nvSpPr>
        <p:spPr>
          <a:xfrm>
            <a:off x="9042400" y="2026841"/>
            <a:ext cx="2336800" cy="1237456"/>
          </a:xfrm>
          <a:prstGeom prst="roundRect">
            <a:avLst>
              <a:gd name="adj" fmla="val 6158"/>
            </a:avLst>
          </a:prstGeom>
          <a:solidFill>
            <a:srgbClr val="FDFDFB"/>
          </a:solidFill>
          <a:ln/>
        </p:spPr>
        <p:txBody>
          <a:bodyPr/>
          <a:lstStyle/>
          <a:p>
            <a:endParaRPr lang="es-ES"/>
          </a:p>
        </p:txBody>
      </p:sp>
      <p:sp>
        <p:nvSpPr>
          <p:cNvPr id="21" name="Shape 16"/>
          <p:cNvSpPr/>
          <p:nvPr/>
        </p:nvSpPr>
        <p:spPr>
          <a:xfrm>
            <a:off x="9042400" y="2026841"/>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5B6B7F"/>
          </a:solidFill>
          <a:ln/>
        </p:spPr>
        <p:txBody>
          <a:bodyPr/>
          <a:lstStyle/>
          <a:p>
            <a:endParaRPr lang="es-ES"/>
          </a:p>
        </p:txBody>
      </p:sp>
      <p:sp>
        <p:nvSpPr>
          <p:cNvPr id="22" name="Text 17"/>
          <p:cNvSpPr/>
          <p:nvPr/>
        </p:nvSpPr>
        <p:spPr>
          <a:xfrm>
            <a:off x="9169400" y="220464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7F"/>
                </a:solidFill>
                <a:latin typeface="Arial" pitchFamily="34" charset="0"/>
                <a:ea typeface="Arial" pitchFamily="34" charset="-122"/>
                <a:cs typeface="Arial" pitchFamily="34" charset="-120"/>
              </a:rPr>
              <a:t>Requisito no funcional</a:t>
            </a:r>
            <a:endParaRPr lang="en-US" sz="1200" dirty="0"/>
          </a:p>
        </p:txBody>
      </p:sp>
      <p:sp>
        <p:nvSpPr>
          <p:cNvPr id="23" name="Text 18"/>
          <p:cNvSpPr/>
          <p:nvPr/>
        </p:nvSpPr>
        <p:spPr>
          <a:xfrm>
            <a:off x="9169400" y="2468761"/>
            <a:ext cx="2145284" cy="69393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Arial" pitchFamily="34" charset="0"/>
                <a:ea typeface="Arial" pitchFamily="34" charset="-122"/>
                <a:cs typeface="Arial" pitchFamily="34" charset="-120"/>
              </a:rPr>
              <a:t>SEG-02</a:t>
            </a:r>
            <a:r>
              <a:rPr lang="en-US" sz="1300" dirty="0">
                <a:solidFill>
                  <a:srgbClr val="14213D"/>
                </a:solidFill>
                <a:latin typeface="Arial" pitchFamily="34" charset="0"/>
                <a:ea typeface="Arial" pitchFamily="34" charset="-122"/>
                <a:cs typeface="Arial" pitchFamily="34" charset="-120"/>
              </a:rPr>
              <a:t> · Cada usuario solo accede o descarga lo que tiene permitido</a:t>
            </a:r>
            <a:endParaRPr lang="en-US" sz="1300" dirty="0"/>
          </a:p>
        </p:txBody>
      </p:sp>
      <p:sp>
        <p:nvSpPr>
          <p:cNvPr id="24" name="Text 19"/>
          <p:cNvSpPr/>
          <p:nvPr/>
        </p:nvSpPr>
        <p:spPr>
          <a:xfrm>
            <a:off x="812800" y="3391297"/>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B6B7F"/>
                </a:solidFill>
                <a:latin typeface="Arial" pitchFamily="34" charset="0"/>
                <a:ea typeface="Arial" pitchFamily="34" charset="-122"/>
                <a:cs typeface="Arial" pitchFamily="34" charset="-120"/>
              </a:rPr>
              <a:t>Ejemplo 2 · Corrección de facturas</a:t>
            </a:r>
            <a:endParaRPr lang="en-US" sz="1400" dirty="0"/>
          </a:p>
        </p:txBody>
      </p:sp>
      <p:sp>
        <p:nvSpPr>
          <p:cNvPr id="25" name="Shape 20"/>
          <p:cNvSpPr/>
          <p:nvPr/>
        </p:nvSpPr>
        <p:spPr>
          <a:xfrm>
            <a:off x="812800" y="3767187"/>
            <a:ext cx="2336800" cy="1237456"/>
          </a:xfrm>
          <a:prstGeom prst="roundRect">
            <a:avLst>
              <a:gd name="adj" fmla="val 6158"/>
            </a:avLst>
          </a:prstGeom>
          <a:solidFill>
            <a:srgbClr val="FDFDFB"/>
          </a:solidFill>
          <a:ln/>
        </p:spPr>
        <p:txBody>
          <a:bodyPr/>
          <a:lstStyle/>
          <a:p>
            <a:endParaRPr lang="es-ES"/>
          </a:p>
        </p:txBody>
      </p:sp>
      <p:sp>
        <p:nvSpPr>
          <p:cNvPr id="26" name="Shape 21"/>
          <p:cNvSpPr/>
          <p:nvPr/>
        </p:nvSpPr>
        <p:spPr>
          <a:xfrm>
            <a:off x="812800" y="3767187"/>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1D6FA5"/>
          </a:solidFill>
          <a:ln/>
        </p:spPr>
        <p:txBody>
          <a:bodyPr/>
          <a:lstStyle/>
          <a:p>
            <a:endParaRPr lang="es-ES"/>
          </a:p>
        </p:txBody>
      </p:sp>
      <p:sp>
        <p:nvSpPr>
          <p:cNvPr id="27" name="Text 22"/>
          <p:cNvSpPr/>
          <p:nvPr/>
        </p:nvSpPr>
        <p:spPr>
          <a:xfrm>
            <a:off x="939800" y="3944987"/>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Necesidad de negocio</a:t>
            </a:r>
            <a:endParaRPr lang="en-US" sz="1200" dirty="0"/>
          </a:p>
        </p:txBody>
      </p:sp>
      <p:sp>
        <p:nvSpPr>
          <p:cNvPr id="28" name="Text 23"/>
          <p:cNvSpPr/>
          <p:nvPr/>
        </p:nvSpPr>
        <p:spPr>
          <a:xfrm>
            <a:off x="939800" y="4209107"/>
            <a:ext cx="2145284" cy="693936"/>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Arial" pitchFamily="34" charset="0"/>
                <a:ea typeface="Arial" pitchFamily="34" charset="-122"/>
                <a:cs typeface="Arial" pitchFamily="34" charset="-120"/>
              </a:rPr>
              <a:t>RNG-10</a:t>
            </a:r>
            <a:r>
              <a:rPr lang="en-US" sz="1300" dirty="0">
                <a:solidFill>
                  <a:srgbClr val="14213D"/>
                </a:solidFill>
                <a:latin typeface="Arial" pitchFamily="34" charset="0"/>
                <a:ea typeface="Arial" pitchFamily="34" charset="-122"/>
                <a:cs typeface="Arial" pitchFamily="34" charset="-120"/>
              </a:rPr>
              <a:t> · Una factura emitida no se elimina; se corrige</a:t>
            </a:r>
            <a:endParaRPr lang="en-US" sz="1300" dirty="0"/>
          </a:p>
        </p:txBody>
      </p:sp>
      <p:pic>
        <p:nvPicPr>
          <p:cNvPr id="29" name="Image 3" descr="arrow-right"/>
          <p:cNvPicPr>
            <a:picLocks noChangeAspect="1"/>
          </p:cNvPicPr>
          <p:nvPr/>
        </p:nvPicPr>
        <p:blipFill>
          <a:blip r:embed="rId3"/>
          <a:srcRect/>
          <a:stretch/>
        </p:blipFill>
        <p:spPr>
          <a:xfrm>
            <a:off x="3225800" y="4309715"/>
            <a:ext cx="254000" cy="152400"/>
          </a:xfrm>
          <a:prstGeom prst="rect">
            <a:avLst/>
          </a:prstGeom>
        </p:spPr>
      </p:pic>
      <p:sp>
        <p:nvSpPr>
          <p:cNvPr id="30" name="Shape 24"/>
          <p:cNvSpPr/>
          <p:nvPr/>
        </p:nvSpPr>
        <p:spPr>
          <a:xfrm>
            <a:off x="3556000" y="3767187"/>
            <a:ext cx="2336800" cy="1237456"/>
          </a:xfrm>
          <a:prstGeom prst="roundRect">
            <a:avLst>
              <a:gd name="adj" fmla="val 6158"/>
            </a:avLst>
          </a:prstGeom>
          <a:solidFill>
            <a:srgbClr val="FDFDFB"/>
          </a:solidFill>
          <a:ln/>
        </p:spPr>
        <p:txBody>
          <a:bodyPr/>
          <a:lstStyle/>
          <a:p>
            <a:endParaRPr lang="es-ES"/>
          </a:p>
        </p:txBody>
      </p:sp>
      <p:sp>
        <p:nvSpPr>
          <p:cNvPr id="31" name="Shape 25"/>
          <p:cNvSpPr/>
          <p:nvPr/>
        </p:nvSpPr>
        <p:spPr>
          <a:xfrm>
            <a:off x="3556000" y="3767187"/>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C2610C"/>
          </a:solidFill>
          <a:ln/>
        </p:spPr>
        <p:txBody>
          <a:bodyPr/>
          <a:lstStyle/>
          <a:p>
            <a:endParaRPr lang="es-ES"/>
          </a:p>
        </p:txBody>
      </p:sp>
      <p:sp>
        <p:nvSpPr>
          <p:cNvPr id="32" name="Text 26"/>
          <p:cNvSpPr/>
          <p:nvPr/>
        </p:nvSpPr>
        <p:spPr>
          <a:xfrm>
            <a:off x="3683000" y="3944987"/>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610C"/>
                </a:solidFill>
                <a:latin typeface="Arial" pitchFamily="34" charset="0"/>
                <a:ea typeface="Arial" pitchFamily="34" charset="-122"/>
                <a:cs typeface="Arial" pitchFamily="34" charset="-120"/>
              </a:rPr>
              <a:t>Requisito de usuario</a:t>
            </a:r>
            <a:endParaRPr lang="en-US" sz="1200" dirty="0"/>
          </a:p>
        </p:txBody>
      </p:sp>
      <p:sp>
        <p:nvSpPr>
          <p:cNvPr id="33" name="Text 27"/>
          <p:cNvSpPr/>
          <p:nvPr/>
        </p:nvSpPr>
        <p:spPr>
          <a:xfrm>
            <a:off x="3683000" y="4209107"/>
            <a:ext cx="214528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Corregir una factura emitida sin borrarla</a:t>
            </a:r>
            <a:endParaRPr lang="en-US" sz="1300" dirty="0"/>
          </a:p>
        </p:txBody>
      </p:sp>
      <p:pic>
        <p:nvPicPr>
          <p:cNvPr id="34" name="Image 4" descr="arrow-right"/>
          <p:cNvPicPr>
            <a:picLocks noChangeAspect="1"/>
          </p:cNvPicPr>
          <p:nvPr/>
        </p:nvPicPr>
        <p:blipFill>
          <a:blip r:embed="rId3"/>
          <a:srcRect/>
          <a:stretch/>
        </p:blipFill>
        <p:spPr>
          <a:xfrm>
            <a:off x="5969000" y="4309715"/>
            <a:ext cx="254000" cy="152400"/>
          </a:xfrm>
          <a:prstGeom prst="rect">
            <a:avLst/>
          </a:prstGeom>
        </p:spPr>
      </p:pic>
      <p:sp>
        <p:nvSpPr>
          <p:cNvPr id="35" name="Shape 28"/>
          <p:cNvSpPr/>
          <p:nvPr/>
        </p:nvSpPr>
        <p:spPr>
          <a:xfrm>
            <a:off x="6299200" y="3767187"/>
            <a:ext cx="2336800" cy="1237456"/>
          </a:xfrm>
          <a:prstGeom prst="roundRect">
            <a:avLst>
              <a:gd name="adj" fmla="val 6158"/>
            </a:avLst>
          </a:prstGeom>
          <a:solidFill>
            <a:srgbClr val="FDFDFB"/>
          </a:solidFill>
          <a:ln/>
        </p:spPr>
        <p:txBody>
          <a:bodyPr/>
          <a:lstStyle/>
          <a:p>
            <a:endParaRPr lang="es-ES"/>
          </a:p>
        </p:txBody>
      </p:sp>
      <p:sp>
        <p:nvSpPr>
          <p:cNvPr id="36" name="Shape 29"/>
          <p:cNvSpPr/>
          <p:nvPr/>
        </p:nvSpPr>
        <p:spPr>
          <a:xfrm>
            <a:off x="6299200" y="3767187"/>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14213D"/>
          </a:solidFill>
          <a:ln/>
        </p:spPr>
        <p:txBody>
          <a:bodyPr/>
          <a:lstStyle/>
          <a:p>
            <a:endParaRPr lang="es-ES"/>
          </a:p>
        </p:txBody>
      </p:sp>
      <p:sp>
        <p:nvSpPr>
          <p:cNvPr id="37" name="Text 30"/>
          <p:cNvSpPr/>
          <p:nvPr/>
        </p:nvSpPr>
        <p:spPr>
          <a:xfrm>
            <a:off x="6426200" y="3944987"/>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Arial" pitchFamily="34" charset="0"/>
                <a:ea typeface="Arial" pitchFamily="34" charset="-122"/>
                <a:cs typeface="Arial" pitchFamily="34" charset="-120"/>
              </a:rPr>
              <a:t>Requisito funcional</a:t>
            </a:r>
            <a:endParaRPr lang="en-US" sz="1200" dirty="0"/>
          </a:p>
        </p:txBody>
      </p:sp>
      <p:sp>
        <p:nvSpPr>
          <p:cNvPr id="38" name="Text 31"/>
          <p:cNvSpPr/>
          <p:nvPr/>
        </p:nvSpPr>
        <p:spPr>
          <a:xfrm>
            <a:off x="6426200" y="4209107"/>
            <a:ext cx="2145284"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4213D"/>
                </a:solidFill>
                <a:latin typeface="Arial" pitchFamily="34" charset="0"/>
                <a:ea typeface="Arial" pitchFamily="34" charset="-122"/>
                <a:cs typeface="Arial" pitchFamily="34" charset="-120"/>
              </a:rPr>
              <a:t>FAC-06</a:t>
            </a:r>
            <a:r>
              <a:rPr lang="en-US" sz="1300" dirty="0">
                <a:solidFill>
                  <a:srgbClr val="14213D"/>
                </a:solidFill>
                <a:latin typeface="Arial" pitchFamily="34" charset="0"/>
                <a:ea typeface="Arial" pitchFamily="34" charset="-122"/>
                <a:cs typeface="Arial" pitchFamily="34" charset="-120"/>
              </a:rPr>
              <a:t> · Rectificaciones y notas de crédito</a:t>
            </a:r>
            <a:endParaRPr lang="en-US" sz="1300" dirty="0"/>
          </a:p>
        </p:txBody>
      </p:sp>
      <p:pic>
        <p:nvPicPr>
          <p:cNvPr id="39" name="Image 5" descr="arrow-right"/>
          <p:cNvPicPr>
            <a:picLocks noChangeAspect="1"/>
          </p:cNvPicPr>
          <p:nvPr/>
        </p:nvPicPr>
        <p:blipFill>
          <a:blip r:embed="rId3"/>
          <a:srcRect/>
          <a:stretch/>
        </p:blipFill>
        <p:spPr>
          <a:xfrm>
            <a:off x="8712200" y="4309715"/>
            <a:ext cx="254000" cy="152400"/>
          </a:xfrm>
          <a:prstGeom prst="rect">
            <a:avLst/>
          </a:prstGeom>
        </p:spPr>
      </p:pic>
      <p:sp>
        <p:nvSpPr>
          <p:cNvPr id="40" name="Shape 32"/>
          <p:cNvSpPr/>
          <p:nvPr/>
        </p:nvSpPr>
        <p:spPr>
          <a:xfrm>
            <a:off x="9042400" y="3767187"/>
            <a:ext cx="2336800" cy="1237456"/>
          </a:xfrm>
          <a:prstGeom prst="roundRect">
            <a:avLst>
              <a:gd name="adj" fmla="val 6158"/>
            </a:avLst>
          </a:prstGeom>
          <a:solidFill>
            <a:srgbClr val="FDFDFB"/>
          </a:solidFill>
          <a:ln/>
        </p:spPr>
        <p:txBody>
          <a:bodyPr/>
          <a:lstStyle/>
          <a:p>
            <a:endParaRPr lang="es-ES"/>
          </a:p>
        </p:txBody>
      </p:sp>
      <p:sp>
        <p:nvSpPr>
          <p:cNvPr id="41" name="Shape 33"/>
          <p:cNvSpPr/>
          <p:nvPr/>
        </p:nvSpPr>
        <p:spPr>
          <a:xfrm>
            <a:off x="9042400" y="3767187"/>
            <a:ext cx="2336800" cy="1237456"/>
          </a:xfrm>
          <a:custGeom>
            <a:avLst/>
            <a:gdLst/>
            <a:ahLst/>
            <a:cxnLst/>
            <a:rect l="l" t="t" r="r" b="b"/>
            <a:pathLst>
              <a:path w="2336800" h="1237456">
                <a:moveTo>
                  <a:pt x="0" y="76200"/>
                </a:moveTo>
                <a:lnTo>
                  <a:pt x="0" y="76200"/>
                </a:lnTo>
                <a:arcTo wR="76200" hR="76200" stAng="10800000" swAng="5400000"/>
                <a:lnTo>
                  <a:pt x="2260600" y="0"/>
                </a:lnTo>
                <a:arcTo wR="76200" hR="76200" stAng="16200000" swAng="5400000"/>
                <a:lnTo>
                  <a:pt x="2336800" y="76200"/>
                </a:lnTo>
                <a:arcTo wR="76200" hR="25400" stAng="0" swAng="-5400000"/>
                <a:lnTo>
                  <a:pt x="76200" y="50800"/>
                </a:lnTo>
                <a:arcTo wR="76200" hR="25400" stAng="16200000" swAng="-5400000"/>
                <a:close/>
              </a:path>
            </a:pathLst>
          </a:custGeom>
          <a:solidFill>
            <a:srgbClr val="5B6B7F"/>
          </a:solidFill>
          <a:ln/>
        </p:spPr>
        <p:txBody>
          <a:bodyPr/>
          <a:lstStyle/>
          <a:p>
            <a:endParaRPr lang="es-ES"/>
          </a:p>
        </p:txBody>
      </p:sp>
      <p:sp>
        <p:nvSpPr>
          <p:cNvPr id="42" name="Text 34"/>
          <p:cNvSpPr/>
          <p:nvPr/>
        </p:nvSpPr>
        <p:spPr>
          <a:xfrm>
            <a:off x="9169400" y="3944987"/>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B7F"/>
                </a:solidFill>
                <a:latin typeface="Arial" pitchFamily="34" charset="0"/>
                <a:ea typeface="Arial" pitchFamily="34" charset="-122"/>
                <a:cs typeface="Arial" pitchFamily="34" charset="-120"/>
              </a:rPr>
              <a:t>Requisito no funcional</a:t>
            </a:r>
            <a:endParaRPr lang="en-US" sz="1200" dirty="0"/>
          </a:p>
        </p:txBody>
      </p:sp>
      <p:sp>
        <p:nvSpPr>
          <p:cNvPr id="43" name="Text 35"/>
          <p:cNvSpPr/>
          <p:nvPr/>
        </p:nvSpPr>
        <p:spPr>
          <a:xfrm>
            <a:off x="9169400" y="4209107"/>
            <a:ext cx="214528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4213D"/>
                </a:solidFill>
                <a:latin typeface="Arial" pitchFamily="34" charset="0"/>
                <a:ea typeface="Arial" pitchFamily="34" charset="-122"/>
                <a:cs typeface="Arial" pitchFamily="34" charset="-120"/>
              </a:rPr>
              <a:t>Integridad y trazabilidad: registro de operaciones</a:t>
            </a:r>
            <a:endParaRPr lang="en-US" sz="1300" dirty="0"/>
          </a:p>
        </p:txBody>
      </p:sp>
      <p:sp>
        <p:nvSpPr>
          <p:cNvPr id="44" name="Text 3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45" name="Text 3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10 / 12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F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A5"/>
                </a:solidFill>
                <a:latin typeface="Arial" pitchFamily="34" charset="0"/>
                <a:ea typeface="Arial" pitchFamily="34" charset="-122"/>
                <a:cs typeface="Arial" pitchFamily="34" charset="-120"/>
              </a:rPr>
              <a:t>VISIÓN DE CONJUNTO</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Flujo general del sistema</a:t>
            </a:r>
            <a:endParaRPr lang="en-US" sz="3200" dirty="0"/>
          </a:p>
        </p:txBody>
      </p:sp>
      <p:sp>
        <p:nvSpPr>
          <p:cNvPr id="4" name="Shape 2"/>
          <p:cNvSpPr/>
          <p:nvPr/>
        </p:nvSpPr>
        <p:spPr>
          <a:xfrm>
            <a:off x="819150" y="1657300"/>
            <a:ext cx="1772890" cy="1172170"/>
          </a:xfrm>
          <a:prstGeom prst="roundRect">
            <a:avLst>
              <a:gd name="adj" fmla="val 5959"/>
            </a:avLst>
          </a:prstGeom>
          <a:solidFill>
            <a:srgbClr val="FDFDFB"/>
          </a:solidFill>
          <a:ln w="12700">
            <a:solidFill>
              <a:srgbClr val="1D6FA5"/>
            </a:solidFill>
            <a:prstDash val="solid"/>
          </a:ln>
        </p:spPr>
        <p:txBody>
          <a:bodyPr/>
          <a:lstStyle/>
          <a:p>
            <a:endParaRPr lang="es-ES"/>
          </a:p>
        </p:txBody>
      </p:sp>
      <p:sp>
        <p:nvSpPr>
          <p:cNvPr id="5" name="Text 3"/>
          <p:cNvSpPr/>
          <p:nvPr/>
        </p:nvSpPr>
        <p:spPr>
          <a:xfrm>
            <a:off x="927100" y="1765250"/>
            <a:ext cx="16077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927100" y="2042071"/>
            <a:ext cx="160779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Alta del cliente</a:t>
            </a:r>
            <a:endParaRPr lang="en-US" sz="1400" dirty="0"/>
          </a:p>
        </p:txBody>
      </p:sp>
      <p:pic>
        <p:nvPicPr>
          <p:cNvPr id="7" name="Image 0" descr="arrow-right"/>
          <p:cNvPicPr>
            <a:picLocks noChangeAspect="1"/>
          </p:cNvPicPr>
          <p:nvPr/>
        </p:nvPicPr>
        <p:blipFill>
          <a:blip r:embed="rId3"/>
          <a:srcRect/>
          <a:stretch/>
        </p:blipFill>
        <p:spPr>
          <a:xfrm>
            <a:off x="2674590" y="2167186"/>
            <a:ext cx="254000" cy="152400"/>
          </a:xfrm>
          <a:prstGeom prst="rect">
            <a:avLst/>
          </a:prstGeom>
        </p:spPr>
      </p:pic>
      <p:sp>
        <p:nvSpPr>
          <p:cNvPr id="8" name="Shape 5"/>
          <p:cNvSpPr/>
          <p:nvPr/>
        </p:nvSpPr>
        <p:spPr>
          <a:xfrm>
            <a:off x="3011140" y="1657300"/>
            <a:ext cx="1772940" cy="1172170"/>
          </a:xfrm>
          <a:prstGeom prst="roundRect">
            <a:avLst>
              <a:gd name="adj" fmla="val 5959"/>
            </a:avLst>
          </a:prstGeom>
          <a:solidFill>
            <a:srgbClr val="FDFDFB"/>
          </a:solidFill>
          <a:ln w="12700">
            <a:solidFill>
              <a:srgbClr val="1D6FA5"/>
            </a:solidFill>
            <a:prstDash val="solid"/>
          </a:ln>
        </p:spPr>
        <p:txBody>
          <a:bodyPr/>
          <a:lstStyle/>
          <a:p>
            <a:endParaRPr lang="es-ES"/>
          </a:p>
        </p:txBody>
      </p:sp>
      <p:sp>
        <p:nvSpPr>
          <p:cNvPr id="9" name="Text 6"/>
          <p:cNvSpPr/>
          <p:nvPr/>
        </p:nvSpPr>
        <p:spPr>
          <a:xfrm>
            <a:off x="3119090" y="1765250"/>
            <a:ext cx="16078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2</a:t>
            </a:r>
            <a:endParaRPr lang="en-US" sz="1200" dirty="0"/>
          </a:p>
        </p:txBody>
      </p:sp>
      <p:sp>
        <p:nvSpPr>
          <p:cNvPr id="10" name="Text 7"/>
          <p:cNvSpPr/>
          <p:nvPr/>
        </p:nvSpPr>
        <p:spPr>
          <a:xfrm>
            <a:off x="3119090" y="2042071"/>
            <a:ext cx="1607840"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Relación comercial y tarifa</a:t>
            </a:r>
            <a:endParaRPr lang="en-US" sz="1400" dirty="0"/>
          </a:p>
        </p:txBody>
      </p:sp>
      <p:pic>
        <p:nvPicPr>
          <p:cNvPr id="11" name="Image 1" descr="arrow-right"/>
          <p:cNvPicPr>
            <a:picLocks noChangeAspect="1"/>
          </p:cNvPicPr>
          <p:nvPr/>
        </p:nvPicPr>
        <p:blipFill>
          <a:blip r:embed="rId3"/>
          <a:srcRect/>
          <a:stretch/>
        </p:blipFill>
        <p:spPr>
          <a:xfrm>
            <a:off x="4866630" y="2167186"/>
            <a:ext cx="254000" cy="152400"/>
          </a:xfrm>
          <a:prstGeom prst="rect">
            <a:avLst/>
          </a:prstGeom>
        </p:spPr>
      </p:pic>
      <p:sp>
        <p:nvSpPr>
          <p:cNvPr id="12" name="Shape 8"/>
          <p:cNvSpPr/>
          <p:nvPr/>
        </p:nvSpPr>
        <p:spPr>
          <a:xfrm>
            <a:off x="5203180" y="1657300"/>
            <a:ext cx="1772890" cy="1172170"/>
          </a:xfrm>
          <a:prstGeom prst="roundRect">
            <a:avLst>
              <a:gd name="adj" fmla="val 5959"/>
            </a:avLst>
          </a:prstGeom>
          <a:solidFill>
            <a:srgbClr val="FDFDFB"/>
          </a:solidFill>
          <a:ln w="12700">
            <a:solidFill>
              <a:srgbClr val="1D6FA5"/>
            </a:solidFill>
            <a:prstDash val="solid"/>
          </a:ln>
        </p:spPr>
        <p:txBody>
          <a:bodyPr/>
          <a:lstStyle/>
          <a:p>
            <a:endParaRPr lang="es-ES"/>
          </a:p>
        </p:txBody>
      </p:sp>
      <p:sp>
        <p:nvSpPr>
          <p:cNvPr id="13" name="Text 9"/>
          <p:cNvSpPr/>
          <p:nvPr/>
        </p:nvSpPr>
        <p:spPr>
          <a:xfrm>
            <a:off x="5311130" y="1765250"/>
            <a:ext cx="160779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3</a:t>
            </a:r>
            <a:endParaRPr lang="en-US" sz="1200" dirty="0"/>
          </a:p>
        </p:txBody>
      </p:sp>
      <p:sp>
        <p:nvSpPr>
          <p:cNvPr id="14" name="Text 10"/>
          <p:cNvSpPr/>
          <p:nvPr/>
        </p:nvSpPr>
        <p:spPr>
          <a:xfrm>
            <a:off x="5311130" y="2042071"/>
            <a:ext cx="1607790"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Generación de factura</a:t>
            </a:r>
            <a:endParaRPr lang="en-US" sz="1400" dirty="0"/>
          </a:p>
        </p:txBody>
      </p:sp>
      <p:pic>
        <p:nvPicPr>
          <p:cNvPr id="15" name="Image 2" descr="arrow-right"/>
          <p:cNvPicPr>
            <a:picLocks noChangeAspect="1"/>
          </p:cNvPicPr>
          <p:nvPr/>
        </p:nvPicPr>
        <p:blipFill>
          <a:blip r:embed="rId3"/>
          <a:srcRect/>
          <a:stretch/>
        </p:blipFill>
        <p:spPr>
          <a:xfrm>
            <a:off x="7058620" y="2167186"/>
            <a:ext cx="254000" cy="152400"/>
          </a:xfrm>
          <a:prstGeom prst="rect">
            <a:avLst/>
          </a:prstGeom>
        </p:spPr>
      </p:pic>
      <p:sp>
        <p:nvSpPr>
          <p:cNvPr id="16" name="Shape 11"/>
          <p:cNvSpPr/>
          <p:nvPr/>
        </p:nvSpPr>
        <p:spPr>
          <a:xfrm>
            <a:off x="7398345" y="1660475"/>
            <a:ext cx="1779290" cy="1165820"/>
          </a:xfrm>
          <a:prstGeom prst="roundRect">
            <a:avLst>
              <a:gd name="adj" fmla="val 5719"/>
            </a:avLst>
          </a:prstGeom>
          <a:solidFill>
            <a:srgbClr val="FCEBD3"/>
          </a:solidFill>
          <a:ln w="19050">
            <a:solidFill>
              <a:srgbClr val="C2610C"/>
            </a:solidFill>
            <a:prstDash val="solid"/>
          </a:ln>
        </p:spPr>
        <p:txBody>
          <a:bodyPr/>
          <a:lstStyle/>
          <a:p>
            <a:endParaRPr lang="es-ES"/>
          </a:p>
        </p:txBody>
      </p:sp>
      <p:sp>
        <p:nvSpPr>
          <p:cNvPr id="17" name="Text 12"/>
          <p:cNvSpPr/>
          <p:nvPr/>
        </p:nvSpPr>
        <p:spPr>
          <a:xfrm>
            <a:off x="7509470" y="1771600"/>
            <a:ext cx="16078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9A4A06"/>
                </a:solidFill>
                <a:latin typeface="Arial" pitchFamily="34" charset="0"/>
                <a:ea typeface="Arial" pitchFamily="34" charset="-122"/>
                <a:cs typeface="Arial" pitchFamily="34" charset="-120"/>
              </a:rPr>
              <a:t>4</a:t>
            </a:r>
            <a:endParaRPr lang="en-US" sz="1200" dirty="0"/>
          </a:p>
        </p:txBody>
      </p:sp>
      <p:sp>
        <p:nvSpPr>
          <p:cNvPr id="18" name="Text 13"/>
          <p:cNvSpPr/>
          <p:nvPr/>
        </p:nvSpPr>
        <p:spPr>
          <a:xfrm>
            <a:off x="7509470" y="2048421"/>
            <a:ext cx="1607840" cy="6921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Revisión / aprobación si es necesaria</a:t>
            </a:r>
            <a:endParaRPr lang="en-US" sz="1400" dirty="0"/>
          </a:p>
        </p:txBody>
      </p:sp>
      <p:pic>
        <p:nvPicPr>
          <p:cNvPr id="19" name="Image 3" descr="arrow-right"/>
          <p:cNvPicPr>
            <a:picLocks noChangeAspect="1"/>
          </p:cNvPicPr>
          <p:nvPr/>
        </p:nvPicPr>
        <p:blipFill>
          <a:blip r:embed="rId3"/>
          <a:srcRect/>
          <a:stretch/>
        </p:blipFill>
        <p:spPr>
          <a:xfrm>
            <a:off x="9263360" y="2167186"/>
            <a:ext cx="254000" cy="152400"/>
          </a:xfrm>
          <a:prstGeom prst="rect">
            <a:avLst/>
          </a:prstGeom>
        </p:spPr>
      </p:pic>
      <p:sp>
        <p:nvSpPr>
          <p:cNvPr id="20" name="Shape 14"/>
          <p:cNvSpPr/>
          <p:nvPr/>
        </p:nvSpPr>
        <p:spPr>
          <a:xfrm>
            <a:off x="9599910" y="1657300"/>
            <a:ext cx="1772940" cy="1172170"/>
          </a:xfrm>
          <a:prstGeom prst="roundRect">
            <a:avLst>
              <a:gd name="adj" fmla="val 5959"/>
            </a:avLst>
          </a:prstGeom>
          <a:solidFill>
            <a:srgbClr val="FDFDFB"/>
          </a:solidFill>
          <a:ln w="12700">
            <a:solidFill>
              <a:srgbClr val="1D6FA5"/>
            </a:solidFill>
            <a:prstDash val="solid"/>
          </a:ln>
        </p:spPr>
        <p:txBody>
          <a:bodyPr/>
          <a:lstStyle/>
          <a:p>
            <a:endParaRPr lang="es-ES"/>
          </a:p>
        </p:txBody>
      </p:sp>
      <p:sp>
        <p:nvSpPr>
          <p:cNvPr id="21" name="Text 15"/>
          <p:cNvSpPr/>
          <p:nvPr/>
        </p:nvSpPr>
        <p:spPr>
          <a:xfrm>
            <a:off x="9707860" y="1765250"/>
            <a:ext cx="16078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5</a:t>
            </a:r>
            <a:endParaRPr lang="en-US" sz="1200" dirty="0"/>
          </a:p>
        </p:txBody>
      </p:sp>
      <p:sp>
        <p:nvSpPr>
          <p:cNvPr id="22" name="Text 16"/>
          <p:cNvSpPr/>
          <p:nvPr/>
        </p:nvSpPr>
        <p:spPr>
          <a:xfrm>
            <a:off x="9707860" y="2042071"/>
            <a:ext cx="1607840"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Emisión y envío</a:t>
            </a:r>
            <a:endParaRPr lang="en-US" sz="1400" dirty="0"/>
          </a:p>
        </p:txBody>
      </p:sp>
      <p:sp>
        <p:nvSpPr>
          <p:cNvPr id="23" name="Shape 17"/>
          <p:cNvSpPr/>
          <p:nvPr/>
        </p:nvSpPr>
        <p:spPr>
          <a:xfrm>
            <a:off x="819150" y="2969171"/>
            <a:ext cx="2330450" cy="714970"/>
          </a:xfrm>
          <a:prstGeom prst="roundRect">
            <a:avLst>
              <a:gd name="adj" fmla="val 9770"/>
            </a:avLst>
          </a:prstGeom>
          <a:solidFill>
            <a:srgbClr val="FDFDFB"/>
          </a:solidFill>
          <a:ln w="12700">
            <a:solidFill>
              <a:srgbClr val="1D6FA5"/>
            </a:solidFill>
            <a:prstDash val="solid"/>
          </a:ln>
        </p:spPr>
        <p:txBody>
          <a:bodyPr/>
          <a:lstStyle/>
          <a:p>
            <a:endParaRPr lang="es-ES"/>
          </a:p>
        </p:txBody>
      </p:sp>
      <p:sp>
        <p:nvSpPr>
          <p:cNvPr id="24" name="Text 18"/>
          <p:cNvSpPr/>
          <p:nvPr/>
        </p:nvSpPr>
        <p:spPr>
          <a:xfrm>
            <a:off x="927100" y="3077121"/>
            <a:ext cx="21779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6</a:t>
            </a:r>
            <a:endParaRPr lang="en-US" sz="1200" dirty="0"/>
          </a:p>
        </p:txBody>
      </p:sp>
      <p:sp>
        <p:nvSpPr>
          <p:cNvPr id="25" name="Text 19"/>
          <p:cNvSpPr/>
          <p:nvPr/>
        </p:nvSpPr>
        <p:spPr>
          <a:xfrm>
            <a:off x="927100" y="3353941"/>
            <a:ext cx="2177987"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Recordatorios</a:t>
            </a:r>
            <a:endParaRPr lang="en-US" sz="1400" dirty="0"/>
          </a:p>
        </p:txBody>
      </p:sp>
      <p:pic>
        <p:nvPicPr>
          <p:cNvPr id="26" name="Image 4" descr="arrow-right"/>
          <p:cNvPicPr>
            <a:picLocks noChangeAspect="1"/>
          </p:cNvPicPr>
          <p:nvPr/>
        </p:nvPicPr>
        <p:blipFill>
          <a:blip r:embed="rId3"/>
          <a:srcRect/>
          <a:stretch/>
        </p:blipFill>
        <p:spPr>
          <a:xfrm>
            <a:off x="3232150" y="3250456"/>
            <a:ext cx="254000" cy="152400"/>
          </a:xfrm>
          <a:prstGeom prst="rect">
            <a:avLst/>
          </a:prstGeom>
        </p:spPr>
      </p:pic>
      <p:sp>
        <p:nvSpPr>
          <p:cNvPr id="27" name="Shape 20"/>
          <p:cNvSpPr/>
          <p:nvPr/>
        </p:nvSpPr>
        <p:spPr>
          <a:xfrm>
            <a:off x="3568700" y="2969171"/>
            <a:ext cx="2330450" cy="714970"/>
          </a:xfrm>
          <a:prstGeom prst="roundRect">
            <a:avLst>
              <a:gd name="adj" fmla="val 9770"/>
            </a:avLst>
          </a:prstGeom>
          <a:solidFill>
            <a:srgbClr val="FDFDFB"/>
          </a:solidFill>
          <a:ln w="12700">
            <a:solidFill>
              <a:srgbClr val="1D6FA5"/>
            </a:solidFill>
            <a:prstDash val="solid"/>
          </a:ln>
        </p:spPr>
        <p:txBody>
          <a:bodyPr/>
          <a:lstStyle/>
          <a:p>
            <a:endParaRPr lang="es-ES"/>
          </a:p>
        </p:txBody>
      </p:sp>
      <p:sp>
        <p:nvSpPr>
          <p:cNvPr id="28" name="Text 21"/>
          <p:cNvSpPr/>
          <p:nvPr/>
        </p:nvSpPr>
        <p:spPr>
          <a:xfrm>
            <a:off x="3676650" y="3077121"/>
            <a:ext cx="21779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7</a:t>
            </a:r>
            <a:endParaRPr lang="en-US" sz="1200" dirty="0"/>
          </a:p>
        </p:txBody>
      </p:sp>
      <p:sp>
        <p:nvSpPr>
          <p:cNvPr id="29" name="Text 22"/>
          <p:cNvSpPr/>
          <p:nvPr/>
        </p:nvSpPr>
        <p:spPr>
          <a:xfrm>
            <a:off x="3676650" y="3353941"/>
            <a:ext cx="2177987"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Cobro</a:t>
            </a:r>
            <a:endParaRPr lang="en-US" sz="1400" dirty="0"/>
          </a:p>
        </p:txBody>
      </p:sp>
      <p:pic>
        <p:nvPicPr>
          <p:cNvPr id="30" name="Image 5" descr="arrow-right"/>
          <p:cNvPicPr>
            <a:picLocks noChangeAspect="1"/>
          </p:cNvPicPr>
          <p:nvPr/>
        </p:nvPicPr>
        <p:blipFill>
          <a:blip r:embed="rId3"/>
          <a:srcRect/>
          <a:stretch/>
        </p:blipFill>
        <p:spPr>
          <a:xfrm>
            <a:off x="5981700" y="3250456"/>
            <a:ext cx="254000" cy="152400"/>
          </a:xfrm>
          <a:prstGeom prst="rect">
            <a:avLst/>
          </a:prstGeom>
        </p:spPr>
      </p:pic>
      <p:sp>
        <p:nvSpPr>
          <p:cNvPr id="31" name="Shape 23"/>
          <p:cNvSpPr/>
          <p:nvPr/>
        </p:nvSpPr>
        <p:spPr>
          <a:xfrm>
            <a:off x="6318250" y="2969171"/>
            <a:ext cx="2330450" cy="714970"/>
          </a:xfrm>
          <a:prstGeom prst="roundRect">
            <a:avLst>
              <a:gd name="adj" fmla="val 9770"/>
            </a:avLst>
          </a:prstGeom>
          <a:solidFill>
            <a:srgbClr val="FDFDFB"/>
          </a:solidFill>
          <a:ln w="12700">
            <a:solidFill>
              <a:srgbClr val="1D6FA5"/>
            </a:solidFill>
            <a:prstDash val="solid"/>
          </a:ln>
        </p:spPr>
        <p:txBody>
          <a:bodyPr/>
          <a:lstStyle/>
          <a:p>
            <a:endParaRPr lang="es-ES"/>
          </a:p>
        </p:txBody>
      </p:sp>
      <p:sp>
        <p:nvSpPr>
          <p:cNvPr id="32" name="Text 24"/>
          <p:cNvSpPr/>
          <p:nvPr/>
        </p:nvSpPr>
        <p:spPr>
          <a:xfrm>
            <a:off x="6426200" y="3077121"/>
            <a:ext cx="21779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6FA5"/>
                </a:solidFill>
                <a:latin typeface="Arial" pitchFamily="34" charset="0"/>
                <a:ea typeface="Arial" pitchFamily="34" charset="-122"/>
                <a:cs typeface="Arial" pitchFamily="34" charset="-120"/>
              </a:rPr>
              <a:t>8</a:t>
            </a:r>
            <a:endParaRPr lang="en-US" sz="1200" dirty="0"/>
          </a:p>
        </p:txBody>
      </p:sp>
      <p:sp>
        <p:nvSpPr>
          <p:cNvPr id="33" name="Text 25"/>
          <p:cNvSpPr/>
          <p:nvPr/>
        </p:nvSpPr>
        <p:spPr>
          <a:xfrm>
            <a:off x="6426200" y="3353941"/>
            <a:ext cx="2177987"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3D"/>
                </a:solidFill>
                <a:latin typeface="Arial" pitchFamily="34" charset="0"/>
                <a:ea typeface="Arial" pitchFamily="34" charset="-122"/>
                <a:cs typeface="Arial" pitchFamily="34" charset="-120"/>
              </a:rPr>
              <a:t>Conciliación</a:t>
            </a:r>
            <a:endParaRPr lang="en-US" sz="1400" dirty="0"/>
          </a:p>
        </p:txBody>
      </p:sp>
      <p:pic>
        <p:nvPicPr>
          <p:cNvPr id="34" name="Image 6" descr="arrow-right"/>
          <p:cNvPicPr>
            <a:picLocks noChangeAspect="1"/>
          </p:cNvPicPr>
          <p:nvPr/>
        </p:nvPicPr>
        <p:blipFill>
          <a:blip r:embed="rId3"/>
          <a:srcRect/>
          <a:stretch/>
        </p:blipFill>
        <p:spPr>
          <a:xfrm>
            <a:off x="8731250" y="3250456"/>
            <a:ext cx="254000" cy="152400"/>
          </a:xfrm>
          <a:prstGeom prst="rect">
            <a:avLst/>
          </a:prstGeom>
        </p:spPr>
      </p:pic>
      <p:sp>
        <p:nvSpPr>
          <p:cNvPr id="35" name="Shape 26"/>
          <p:cNvSpPr/>
          <p:nvPr/>
        </p:nvSpPr>
        <p:spPr>
          <a:xfrm>
            <a:off x="9061450" y="2962821"/>
            <a:ext cx="2317750" cy="727670"/>
          </a:xfrm>
          <a:prstGeom prst="roundRect">
            <a:avLst>
              <a:gd name="adj" fmla="val 10472"/>
            </a:avLst>
          </a:prstGeom>
          <a:solidFill>
            <a:srgbClr val="14213D"/>
          </a:solidFill>
          <a:ln/>
        </p:spPr>
        <p:txBody>
          <a:bodyPr/>
          <a:lstStyle/>
          <a:p>
            <a:endParaRPr lang="es-ES"/>
          </a:p>
        </p:txBody>
      </p:sp>
      <p:sp>
        <p:nvSpPr>
          <p:cNvPr id="36" name="Text 27"/>
          <p:cNvSpPr/>
          <p:nvPr/>
        </p:nvSpPr>
        <p:spPr>
          <a:xfrm>
            <a:off x="9163050" y="3064421"/>
            <a:ext cx="217798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B84B"/>
                </a:solidFill>
                <a:latin typeface="Arial" pitchFamily="34" charset="0"/>
                <a:ea typeface="Arial" pitchFamily="34" charset="-122"/>
                <a:cs typeface="Arial" pitchFamily="34" charset="-120"/>
              </a:rPr>
              <a:t>9</a:t>
            </a:r>
            <a:endParaRPr lang="en-US" sz="1200" dirty="0"/>
          </a:p>
        </p:txBody>
      </p:sp>
      <p:sp>
        <p:nvSpPr>
          <p:cNvPr id="37" name="Text 28"/>
          <p:cNvSpPr/>
          <p:nvPr/>
        </p:nvSpPr>
        <p:spPr>
          <a:xfrm>
            <a:off x="9163050" y="3341241"/>
            <a:ext cx="2177987" cy="24765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F7F6F2"/>
                </a:solidFill>
                <a:latin typeface="Arial" pitchFamily="34" charset="0"/>
                <a:ea typeface="Arial" pitchFamily="34" charset="-122"/>
                <a:cs typeface="Arial" pitchFamily="34" charset="-120"/>
              </a:rPr>
              <a:t>Registro y auditoría</a:t>
            </a:r>
            <a:endParaRPr lang="en-US" sz="1400" dirty="0"/>
          </a:p>
        </p:txBody>
      </p:sp>
      <p:sp>
        <p:nvSpPr>
          <p:cNvPr id="38" name="Shape 29"/>
          <p:cNvSpPr/>
          <p:nvPr/>
        </p:nvSpPr>
        <p:spPr>
          <a:xfrm>
            <a:off x="822325" y="3857476"/>
            <a:ext cx="133350" cy="133350"/>
          </a:xfrm>
          <a:prstGeom prst="roundRect">
            <a:avLst>
              <a:gd name="adj" fmla="val 21429"/>
            </a:avLst>
          </a:prstGeom>
          <a:solidFill>
            <a:srgbClr val="FCEBD3"/>
          </a:solidFill>
          <a:ln w="19050">
            <a:solidFill>
              <a:srgbClr val="C2610C"/>
            </a:solidFill>
            <a:prstDash val="solid"/>
          </a:ln>
        </p:spPr>
        <p:txBody>
          <a:bodyPr/>
          <a:lstStyle/>
          <a:p>
            <a:endParaRPr lang="es-ES"/>
          </a:p>
        </p:txBody>
      </p:sp>
      <p:sp>
        <p:nvSpPr>
          <p:cNvPr id="39" name="Text 30"/>
          <p:cNvSpPr/>
          <p:nvPr/>
        </p:nvSpPr>
        <p:spPr>
          <a:xfrm>
            <a:off x="1041400" y="3817491"/>
            <a:ext cx="59982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F63"/>
                </a:solidFill>
                <a:latin typeface="Arial" pitchFamily="34" charset="0"/>
                <a:ea typeface="Arial" pitchFamily="34" charset="-122"/>
                <a:cs typeface="Arial" pitchFamily="34" charset="-120"/>
              </a:rPr>
              <a:t>Punto de control humano: revisión o aprobación en operaciones sensibles</a:t>
            </a:r>
            <a:endParaRPr lang="en-US" sz="1200" dirty="0"/>
          </a:p>
        </p:txBody>
      </p:sp>
      <p:sp>
        <p:nvSpPr>
          <p:cNvPr id="40" name="Shape 31"/>
          <p:cNvSpPr/>
          <p:nvPr/>
        </p:nvSpPr>
        <p:spPr>
          <a:xfrm>
            <a:off x="812800" y="4157811"/>
            <a:ext cx="10566400" cy="700980"/>
          </a:xfrm>
          <a:prstGeom prst="roundRect">
            <a:avLst>
              <a:gd name="adj" fmla="val 14494"/>
            </a:avLst>
          </a:prstGeom>
          <a:solidFill>
            <a:srgbClr val="14213D"/>
          </a:solidFill>
          <a:ln/>
        </p:spPr>
        <p:txBody>
          <a:bodyPr/>
          <a:lstStyle/>
          <a:p>
            <a:endParaRPr lang="es-ES"/>
          </a:p>
        </p:txBody>
      </p:sp>
      <p:sp>
        <p:nvSpPr>
          <p:cNvPr id="41" name="Text 32"/>
          <p:cNvSpPr/>
          <p:nvPr/>
        </p:nvSpPr>
        <p:spPr>
          <a:xfrm>
            <a:off x="1016000" y="4310211"/>
            <a:ext cx="1831340" cy="421580"/>
          </a:xfrm>
          <a:prstGeom prst="rect">
            <a:avLst/>
          </a:prstGeom>
          <a:noFill/>
          <a:ln/>
        </p:spPr>
        <p:txBody>
          <a:bodyPr wrap="square" lIns="0" tIns="0" rIns="0" bIns="0" rtlCol="0" anchor="t">
            <a:normAutofit/>
          </a:bodyPr>
          <a:lstStyle/>
          <a:p>
            <a:pPr marL="0" indent="0" algn="l">
              <a:lnSpc>
                <a:spcPts val="1560"/>
              </a:lnSpc>
              <a:buNone/>
            </a:pPr>
            <a:r>
              <a:rPr lang="en-US" sz="1200" b="1" kern="0" spc="100" dirty="0">
                <a:solidFill>
                  <a:srgbClr val="F2B84B"/>
                </a:solidFill>
                <a:latin typeface="Arial" pitchFamily="34" charset="0"/>
                <a:ea typeface="Arial" pitchFamily="34" charset="-122"/>
                <a:cs typeface="Arial" pitchFamily="34" charset="-120"/>
              </a:rPr>
              <a:t>ELEMENTOS TRANSVERSALES</a:t>
            </a:r>
            <a:endParaRPr lang="en-US" sz="1200" dirty="0"/>
          </a:p>
        </p:txBody>
      </p:sp>
      <p:sp>
        <p:nvSpPr>
          <p:cNvPr id="42" name="Text 33"/>
          <p:cNvSpPr/>
          <p:nvPr/>
        </p:nvSpPr>
        <p:spPr>
          <a:xfrm>
            <a:off x="2971800" y="4329212"/>
            <a:ext cx="1545580" cy="358130"/>
          </a:xfrm>
          <a:prstGeom prst="roundRect">
            <a:avLst>
              <a:gd name="adj" fmla="val 42554"/>
            </a:avLst>
          </a:prstGeom>
          <a:solidFill>
            <a:srgbClr val="2A3E6B"/>
          </a:solidFill>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Roles y permisos</a:t>
            </a:r>
            <a:endParaRPr lang="en-US" sz="1300" dirty="0"/>
          </a:p>
        </p:txBody>
      </p:sp>
      <p:sp>
        <p:nvSpPr>
          <p:cNvPr id="43" name="Text 34"/>
          <p:cNvSpPr/>
          <p:nvPr/>
        </p:nvSpPr>
        <p:spPr>
          <a:xfrm>
            <a:off x="4593580" y="4329212"/>
            <a:ext cx="1307207" cy="358130"/>
          </a:xfrm>
          <a:prstGeom prst="roundRect">
            <a:avLst>
              <a:gd name="adj" fmla="val 42554"/>
            </a:avLst>
          </a:prstGeom>
          <a:solidFill>
            <a:srgbClr val="2A3E6B"/>
          </a:solidFill>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Notificaciones</a:t>
            </a:r>
            <a:endParaRPr lang="en-US" sz="1300" dirty="0"/>
          </a:p>
        </p:txBody>
      </p:sp>
      <p:sp>
        <p:nvSpPr>
          <p:cNvPr id="44" name="Text 35"/>
          <p:cNvSpPr/>
          <p:nvPr/>
        </p:nvSpPr>
        <p:spPr>
          <a:xfrm>
            <a:off x="5976987" y="4329212"/>
            <a:ext cx="940246" cy="358130"/>
          </a:xfrm>
          <a:prstGeom prst="roundRect">
            <a:avLst>
              <a:gd name="adj" fmla="val 42554"/>
            </a:avLst>
          </a:prstGeom>
          <a:solidFill>
            <a:srgbClr val="2A3E6B"/>
          </a:solidFill>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Auditoría</a:t>
            </a:r>
            <a:endParaRPr lang="en-US" sz="1300" dirty="0"/>
          </a:p>
        </p:txBody>
      </p:sp>
      <p:sp>
        <p:nvSpPr>
          <p:cNvPr id="45" name="Text 36"/>
          <p:cNvSpPr/>
          <p:nvPr/>
        </p:nvSpPr>
        <p:spPr>
          <a:xfrm>
            <a:off x="6993434" y="4329212"/>
            <a:ext cx="1032123" cy="358130"/>
          </a:xfrm>
          <a:prstGeom prst="roundRect">
            <a:avLst>
              <a:gd name="adj" fmla="val 42554"/>
            </a:avLst>
          </a:prstGeom>
          <a:solidFill>
            <a:srgbClr val="2A3E6B"/>
          </a:solidFill>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Seguridad</a:t>
            </a:r>
            <a:endParaRPr lang="en-US" sz="1300" dirty="0"/>
          </a:p>
        </p:txBody>
      </p:sp>
      <p:sp>
        <p:nvSpPr>
          <p:cNvPr id="46" name="Text 37"/>
          <p:cNvSpPr/>
          <p:nvPr/>
        </p:nvSpPr>
        <p:spPr>
          <a:xfrm>
            <a:off x="8101757" y="4329212"/>
            <a:ext cx="1408212" cy="358130"/>
          </a:xfrm>
          <a:prstGeom prst="roundRect">
            <a:avLst>
              <a:gd name="adj" fmla="val 42554"/>
            </a:avLst>
          </a:prstGeom>
          <a:solidFill>
            <a:srgbClr val="2A3E6B"/>
          </a:solidFill>
          <a:ln/>
        </p:spPr>
        <p:txBody>
          <a:bodyPr wrap="none" lIns="0" tIns="0" rIns="0" bIns="0" rtlCol="0" anchor="ctr">
            <a:normAutofit/>
          </a:bodyPr>
          <a:lstStyle/>
          <a:p>
            <a:pPr marL="0" indent="0" algn="ctr">
              <a:lnSpc>
                <a:spcPts val="1820"/>
              </a:lnSpc>
              <a:buNone/>
            </a:pPr>
            <a:r>
              <a:rPr lang="en-US" sz="1300" dirty="0">
                <a:solidFill>
                  <a:srgbClr val="F7F6F2"/>
                </a:solidFill>
                <a:latin typeface="Arial" pitchFamily="34" charset="0"/>
                <a:ea typeface="Arial" pitchFamily="34" charset="-122"/>
                <a:cs typeface="Arial" pitchFamily="34" charset="-120"/>
              </a:rPr>
              <a:t>Automatización</a:t>
            </a:r>
            <a:endParaRPr lang="en-US" sz="1300" dirty="0"/>
          </a:p>
        </p:txBody>
      </p:sp>
      <p:sp>
        <p:nvSpPr>
          <p:cNvPr id="47" name="Text 3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48" name="Text 3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11 / 12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D6FA5"/>
                </a:solidFill>
                <a:latin typeface="Arial" pitchFamily="34" charset="0"/>
                <a:ea typeface="Arial" pitchFamily="34" charset="-122"/>
                <a:cs typeface="Arial" pitchFamily="34" charset="-120"/>
              </a:rPr>
              <a:t>CIERRE</a:t>
            </a:r>
            <a:endParaRPr lang="en-US" sz="1200" dirty="0"/>
          </a:p>
        </p:txBody>
      </p:sp>
      <p:sp>
        <p:nvSpPr>
          <p:cNvPr id="3" name="Text 1"/>
          <p:cNvSpPr>
            <a:spLocks noGrp="1"/>
          </p:cNvSpPr>
          <p:nvPr>
            <p:ph type="title"/>
          </p:nvPr>
        </p:nvSpPr>
        <p:spPr>
          <a:xfrm>
            <a:off x="812800" y="1076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Georgia" pitchFamily="18" charset="0"/>
                <a:ea typeface="Georgia" pitchFamily="18" charset="-122"/>
                <a:cs typeface="Georgia" pitchFamily="18" charset="-120"/>
              </a:rPr>
              <a:t>Conclusiones</a:t>
            </a:r>
            <a:endParaRPr lang="en-US" sz="3200" dirty="0"/>
          </a:p>
        </p:txBody>
      </p:sp>
      <p:sp>
        <p:nvSpPr>
          <p:cNvPr id="4" name="Shape 2"/>
          <p:cNvSpPr/>
          <p:nvPr/>
        </p:nvSpPr>
        <p:spPr>
          <a:xfrm>
            <a:off x="815975" y="1704925"/>
            <a:ext cx="5213350" cy="1093391"/>
          </a:xfrm>
          <a:prstGeom prst="roundRect">
            <a:avLst>
              <a:gd name="adj" fmla="val 6679"/>
            </a:avLst>
          </a:prstGeom>
          <a:solidFill>
            <a:srgbClr val="FDFDFB"/>
          </a:solidFill>
          <a:ln w="6350">
            <a:solidFill>
              <a:srgbClr val="D5DCE4"/>
            </a:solidFill>
            <a:prstDash val="solid"/>
          </a:ln>
        </p:spPr>
        <p:txBody>
          <a:bodyPr/>
          <a:lstStyle/>
          <a:p>
            <a:endParaRPr lang="es-ES"/>
          </a:p>
        </p:txBody>
      </p:sp>
      <p:sp>
        <p:nvSpPr>
          <p:cNvPr id="5" name="Text 3"/>
          <p:cNvSpPr/>
          <p:nvPr/>
        </p:nvSpPr>
        <p:spPr>
          <a:xfrm>
            <a:off x="996950" y="1860500"/>
            <a:ext cx="4064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D6FA5"/>
                </a:solidFill>
                <a:latin typeface="Georgia" pitchFamily="18" charset="0"/>
                <a:ea typeface="Georgia" pitchFamily="18" charset="-122"/>
                <a:cs typeface="Georgia" pitchFamily="18" charset="-120"/>
              </a:rPr>
              <a:t>1</a:t>
            </a:r>
            <a:endParaRPr lang="en-US" sz="3200" dirty="0"/>
          </a:p>
        </p:txBody>
      </p:sp>
      <p:sp>
        <p:nvSpPr>
          <p:cNvPr id="6" name="Text 4"/>
          <p:cNvSpPr/>
          <p:nvPr/>
        </p:nvSpPr>
        <p:spPr>
          <a:xfrm>
            <a:off x="1479550" y="1860500"/>
            <a:ext cx="4499864"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Automatización</a:t>
            </a:r>
            <a:endParaRPr lang="en-US" sz="1800" dirty="0"/>
          </a:p>
        </p:txBody>
      </p:sp>
      <p:sp>
        <p:nvSpPr>
          <p:cNvPr id="7" name="Text 5"/>
          <p:cNvSpPr/>
          <p:nvPr/>
        </p:nvSpPr>
        <p:spPr>
          <a:xfrm>
            <a:off x="1479550" y="2162721"/>
            <a:ext cx="449986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63"/>
                </a:solidFill>
                <a:latin typeface="Arial" pitchFamily="34" charset="0"/>
                <a:ea typeface="Arial" pitchFamily="34" charset="-122"/>
                <a:cs typeface="Arial" pitchFamily="34" charset="-120"/>
              </a:rPr>
              <a:t>Reducir el trabajo administrativo repetitivo.</a:t>
            </a:r>
            <a:endParaRPr lang="en-US" sz="1400" dirty="0"/>
          </a:p>
        </p:txBody>
      </p:sp>
      <p:sp>
        <p:nvSpPr>
          <p:cNvPr id="8" name="Shape 6"/>
          <p:cNvSpPr/>
          <p:nvPr/>
        </p:nvSpPr>
        <p:spPr>
          <a:xfrm>
            <a:off x="6162675" y="1704925"/>
            <a:ext cx="5213350" cy="1093391"/>
          </a:xfrm>
          <a:prstGeom prst="roundRect">
            <a:avLst>
              <a:gd name="adj" fmla="val 6679"/>
            </a:avLst>
          </a:prstGeom>
          <a:solidFill>
            <a:srgbClr val="FDFDFB"/>
          </a:solidFill>
          <a:ln w="6350">
            <a:solidFill>
              <a:srgbClr val="D5DCE4"/>
            </a:solidFill>
            <a:prstDash val="solid"/>
          </a:ln>
        </p:spPr>
        <p:txBody>
          <a:bodyPr/>
          <a:lstStyle/>
          <a:p>
            <a:endParaRPr lang="es-ES"/>
          </a:p>
        </p:txBody>
      </p:sp>
      <p:sp>
        <p:nvSpPr>
          <p:cNvPr id="9" name="Text 7"/>
          <p:cNvSpPr/>
          <p:nvPr/>
        </p:nvSpPr>
        <p:spPr>
          <a:xfrm>
            <a:off x="6343650" y="1860500"/>
            <a:ext cx="4064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C2610C"/>
                </a:solidFill>
                <a:latin typeface="Georgia" pitchFamily="18" charset="0"/>
                <a:ea typeface="Georgia" pitchFamily="18" charset="-122"/>
                <a:cs typeface="Georgia" pitchFamily="18" charset="-120"/>
              </a:rPr>
              <a:t>2</a:t>
            </a:r>
            <a:endParaRPr lang="en-US" sz="3200" dirty="0"/>
          </a:p>
        </p:txBody>
      </p:sp>
      <p:sp>
        <p:nvSpPr>
          <p:cNvPr id="10" name="Text 8"/>
          <p:cNvSpPr/>
          <p:nvPr/>
        </p:nvSpPr>
        <p:spPr>
          <a:xfrm>
            <a:off x="6826250" y="1860500"/>
            <a:ext cx="4499864"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Control</a:t>
            </a:r>
            <a:endParaRPr lang="en-US" sz="1800" dirty="0"/>
          </a:p>
        </p:txBody>
      </p:sp>
      <p:sp>
        <p:nvSpPr>
          <p:cNvPr id="11" name="Text 9"/>
          <p:cNvSpPr/>
          <p:nvPr/>
        </p:nvSpPr>
        <p:spPr>
          <a:xfrm>
            <a:off x="6826250" y="2162721"/>
            <a:ext cx="449986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63"/>
                </a:solidFill>
                <a:latin typeface="Arial" pitchFamily="34" charset="0"/>
                <a:ea typeface="Arial" pitchFamily="34" charset="-122"/>
                <a:cs typeface="Arial" pitchFamily="34" charset="-120"/>
              </a:rPr>
              <a:t>Mantener la aprobación humana en las operaciones sensibles.</a:t>
            </a:r>
            <a:endParaRPr lang="en-US" sz="1400" dirty="0"/>
          </a:p>
        </p:txBody>
      </p:sp>
      <p:sp>
        <p:nvSpPr>
          <p:cNvPr id="12" name="Shape 10"/>
          <p:cNvSpPr/>
          <p:nvPr/>
        </p:nvSpPr>
        <p:spPr>
          <a:xfrm>
            <a:off x="815975" y="2931666"/>
            <a:ext cx="5213350" cy="853380"/>
          </a:xfrm>
          <a:prstGeom prst="roundRect">
            <a:avLst>
              <a:gd name="adj" fmla="val 8557"/>
            </a:avLst>
          </a:prstGeom>
          <a:solidFill>
            <a:srgbClr val="FDFDFB"/>
          </a:solidFill>
          <a:ln w="6350">
            <a:solidFill>
              <a:srgbClr val="D5DCE4"/>
            </a:solidFill>
            <a:prstDash val="solid"/>
          </a:ln>
        </p:spPr>
        <p:txBody>
          <a:bodyPr/>
          <a:lstStyle/>
          <a:p>
            <a:endParaRPr lang="es-ES"/>
          </a:p>
        </p:txBody>
      </p:sp>
      <p:sp>
        <p:nvSpPr>
          <p:cNvPr id="13" name="Text 11"/>
          <p:cNvSpPr/>
          <p:nvPr/>
        </p:nvSpPr>
        <p:spPr>
          <a:xfrm>
            <a:off x="996950" y="3087241"/>
            <a:ext cx="4064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14213D"/>
                </a:solidFill>
                <a:latin typeface="Georgia" pitchFamily="18" charset="0"/>
                <a:ea typeface="Georgia" pitchFamily="18" charset="-122"/>
                <a:cs typeface="Georgia" pitchFamily="18" charset="-120"/>
              </a:rPr>
              <a:t>3</a:t>
            </a:r>
            <a:endParaRPr lang="en-US" sz="3200" dirty="0"/>
          </a:p>
        </p:txBody>
      </p:sp>
      <p:sp>
        <p:nvSpPr>
          <p:cNvPr id="14" name="Text 12"/>
          <p:cNvSpPr/>
          <p:nvPr/>
        </p:nvSpPr>
        <p:spPr>
          <a:xfrm>
            <a:off x="1479550" y="3087241"/>
            <a:ext cx="4499864"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Trazabilidad</a:t>
            </a:r>
            <a:endParaRPr lang="en-US" sz="1800" dirty="0"/>
          </a:p>
        </p:txBody>
      </p:sp>
      <p:sp>
        <p:nvSpPr>
          <p:cNvPr id="15" name="Text 13"/>
          <p:cNvSpPr/>
          <p:nvPr/>
        </p:nvSpPr>
        <p:spPr>
          <a:xfrm>
            <a:off x="1479550" y="3389461"/>
            <a:ext cx="449986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63"/>
                </a:solidFill>
                <a:latin typeface="Arial" pitchFamily="34" charset="0"/>
                <a:ea typeface="Arial" pitchFamily="34" charset="-122"/>
                <a:cs typeface="Arial" pitchFamily="34" charset="-120"/>
              </a:rPr>
              <a:t>Registrar facturas, pagos, cambios y acciones.</a:t>
            </a:r>
            <a:endParaRPr lang="en-US" sz="1400" dirty="0"/>
          </a:p>
        </p:txBody>
      </p:sp>
      <p:sp>
        <p:nvSpPr>
          <p:cNvPr id="16" name="Shape 14"/>
          <p:cNvSpPr/>
          <p:nvPr/>
        </p:nvSpPr>
        <p:spPr>
          <a:xfrm>
            <a:off x="6162675" y="2931666"/>
            <a:ext cx="5213350" cy="853380"/>
          </a:xfrm>
          <a:prstGeom prst="roundRect">
            <a:avLst>
              <a:gd name="adj" fmla="val 8557"/>
            </a:avLst>
          </a:prstGeom>
          <a:solidFill>
            <a:srgbClr val="FDFDFB"/>
          </a:solidFill>
          <a:ln w="6350">
            <a:solidFill>
              <a:srgbClr val="D5DCE4"/>
            </a:solidFill>
            <a:prstDash val="solid"/>
          </a:ln>
        </p:spPr>
        <p:txBody>
          <a:bodyPr/>
          <a:lstStyle/>
          <a:p>
            <a:endParaRPr lang="es-ES"/>
          </a:p>
        </p:txBody>
      </p:sp>
      <p:sp>
        <p:nvSpPr>
          <p:cNvPr id="17" name="Text 15"/>
          <p:cNvSpPr/>
          <p:nvPr/>
        </p:nvSpPr>
        <p:spPr>
          <a:xfrm>
            <a:off x="6343650" y="3087241"/>
            <a:ext cx="406400" cy="43180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5B6B7F"/>
                </a:solidFill>
                <a:latin typeface="Georgia" pitchFamily="18" charset="0"/>
                <a:ea typeface="Georgia" pitchFamily="18" charset="-122"/>
                <a:cs typeface="Georgia" pitchFamily="18" charset="-120"/>
              </a:rPr>
              <a:t>4</a:t>
            </a:r>
            <a:endParaRPr lang="en-US" sz="3200" dirty="0"/>
          </a:p>
        </p:txBody>
      </p:sp>
      <p:sp>
        <p:nvSpPr>
          <p:cNvPr id="18" name="Text 16"/>
          <p:cNvSpPr/>
          <p:nvPr/>
        </p:nvSpPr>
        <p:spPr>
          <a:xfrm>
            <a:off x="6826250" y="3087241"/>
            <a:ext cx="4499864" cy="276820"/>
          </a:xfrm>
          <a:prstGeom prst="rect">
            <a:avLst/>
          </a:prstGeom>
          <a:noFill/>
          <a:ln/>
        </p:spPr>
        <p:txBody>
          <a:bodyPr wrap="square" lIns="0" tIns="0" rIns="0" bIns="0" rtlCol="0" anchor="t">
            <a:normAutofit/>
          </a:bodyPr>
          <a:lstStyle/>
          <a:p>
            <a:pPr marL="0" indent="0" algn="l">
              <a:lnSpc>
                <a:spcPts val="1980"/>
              </a:lnSpc>
              <a:buNone/>
            </a:pPr>
            <a:r>
              <a:rPr lang="en-US" sz="1800" b="1" dirty="0">
                <a:solidFill>
                  <a:srgbClr val="14213D"/>
                </a:solidFill>
                <a:latin typeface="Georgia" pitchFamily="18" charset="0"/>
                <a:ea typeface="Georgia" pitchFamily="18" charset="-122"/>
                <a:cs typeface="Georgia" pitchFamily="18" charset="-120"/>
              </a:rPr>
              <a:t>Seguridad y escalabilidad</a:t>
            </a:r>
            <a:endParaRPr lang="en-US" sz="1800" dirty="0"/>
          </a:p>
        </p:txBody>
      </p:sp>
      <p:sp>
        <p:nvSpPr>
          <p:cNvPr id="19" name="Text 17"/>
          <p:cNvSpPr/>
          <p:nvPr/>
        </p:nvSpPr>
        <p:spPr>
          <a:xfrm>
            <a:off x="6826250" y="3389461"/>
            <a:ext cx="449986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F4F63"/>
                </a:solidFill>
                <a:latin typeface="Arial" pitchFamily="34" charset="0"/>
                <a:ea typeface="Arial" pitchFamily="34" charset="-122"/>
                <a:cs typeface="Arial" pitchFamily="34" charset="-120"/>
              </a:rPr>
              <a:t>Construir un sistema fiable y preparado para crecer.</a:t>
            </a:r>
            <a:endParaRPr lang="en-US" sz="1400" dirty="0"/>
          </a:p>
        </p:txBody>
      </p:sp>
      <p:sp>
        <p:nvSpPr>
          <p:cNvPr id="20" name="Shape 18"/>
          <p:cNvSpPr/>
          <p:nvPr/>
        </p:nvSpPr>
        <p:spPr>
          <a:xfrm>
            <a:off x="812800" y="3966021"/>
            <a:ext cx="10566400" cy="1069280"/>
          </a:xfrm>
          <a:prstGeom prst="roundRect">
            <a:avLst>
              <a:gd name="adj" fmla="val 9502"/>
            </a:avLst>
          </a:prstGeom>
          <a:solidFill>
            <a:srgbClr val="14213D"/>
          </a:solidFill>
          <a:ln/>
        </p:spPr>
        <p:txBody>
          <a:bodyPr/>
          <a:lstStyle/>
          <a:p>
            <a:endParaRPr lang="es-ES"/>
          </a:p>
        </p:txBody>
      </p:sp>
      <p:sp>
        <p:nvSpPr>
          <p:cNvPr id="21" name="Text 19"/>
          <p:cNvSpPr/>
          <p:nvPr/>
        </p:nvSpPr>
        <p:spPr>
          <a:xfrm>
            <a:off x="1117600" y="4169221"/>
            <a:ext cx="1025550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DEEA"/>
                </a:solidFill>
                <a:latin typeface="Arial" pitchFamily="34" charset="0"/>
                <a:ea typeface="Arial" pitchFamily="34" charset="-122"/>
                <a:cs typeface="Arial" pitchFamily="34" charset="-120"/>
              </a:rPr>
              <a:t>Los requisitos definen una aplicación que combina</a:t>
            </a:r>
            <a:endParaRPr lang="en-US" sz="1400" dirty="0"/>
          </a:p>
        </p:txBody>
      </p:sp>
      <p:sp>
        <p:nvSpPr>
          <p:cNvPr id="22" name="Text 20"/>
          <p:cNvSpPr/>
          <p:nvPr/>
        </p:nvSpPr>
        <p:spPr>
          <a:xfrm>
            <a:off x="1117600" y="4481612"/>
            <a:ext cx="10255504" cy="375890"/>
          </a:xfrm>
          <a:prstGeom prst="rect">
            <a:avLst/>
          </a:prstGeom>
          <a:noFill/>
          <a:ln/>
        </p:spPr>
        <p:txBody>
          <a:bodyPr wrap="square" lIns="0" tIns="0" rIns="0" bIns="0" rtlCol="0" anchor="t">
            <a:normAutofit/>
          </a:bodyPr>
          <a:lstStyle/>
          <a:p>
            <a:pPr marL="0" indent="0" algn="l">
              <a:lnSpc>
                <a:spcPts val="2760"/>
              </a:lnSpc>
              <a:buNone/>
            </a:pPr>
            <a:r>
              <a:rPr lang="en-US" sz="2400" b="1" dirty="0">
                <a:solidFill>
                  <a:srgbClr val="F7F6F2"/>
                </a:solidFill>
                <a:latin typeface="Georgia" pitchFamily="18" charset="0"/>
                <a:ea typeface="Georgia" pitchFamily="18" charset="-122"/>
                <a:cs typeface="Georgia" pitchFamily="18" charset="-120"/>
              </a:rPr>
              <a:t>automatización </a:t>
            </a:r>
            <a:r>
              <a:rPr lang="en-US" sz="2400" b="1" dirty="0">
                <a:solidFill>
                  <a:srgbClr val="F2B84B"/>
                </a:solidFill>
                <a:latin typeface="Georgia" pitchFamily="18" charset="0"/>
                <a:ea typeface="Georgia" pitchFamily="18" charset="-122"/>
                <a:cs typeface="Georgia" pitchFamily="18" charset="-120"/>
              </a:rPr>
              <a:t>+</a:t>
            </a:r>
            <a:r>
              <a:rPr lang="en-US" sz="2400" b="1" dirty="0">
                <a:solidFill>
                  <a:srgbClr val="F7F6F2"/>
                </a:solidFill>
                <a:latin typeface="Georgia" pitchFamily="18" charset="0"/>
                <a:ea typeface="Georgia" pitchFamily="18" charset="-122"/>
                <a:cs typeface="Georgia" pitchFamily="18" charset="-120"/>
              </a:rPr>
              <a:t> control humano </a:t>
            </a:r>
            <a:r>
              <a:rPr lang="en-US" sz="2400" b="1" dirty="0">
                <a:solidFill>
                  <a:srgbClr val="F2B84B"/>
                </a:solidFill>
                <a:latin typeface="Georgia" pitchFamily="18" charset="0"/>
                <a:ea typeface="Georgia" pitchFamily="18" charset="-122"/>
                <a:cs typeface="Georgia" pitchFamily="18" charset="-120"/>
              </a:rPr>
              <a:t>+</a:t>
            </a:r>
            <a:r>
              <a:rPr lang="en-US" sz="2400" b="1" dirty="0">
                <a:solidFill>
                  <a:srgbClr val="F7F6F2"/>
                </a:solidFill>
                <a:latin typeface="Georgia" pitchFamily="18" charset="0"/>
                <a:ea typeface="Georgia" pitchFamily="18" charset="-122"/>
                <a:cs typeface="Georgia" pitchFamily="18" charset="-120"/>
              </a:rPr>
              <a:t> trazabilidad </a:t>
            </a:r>
            <a:r>
              <a:rPr lang="en-US" sz="2400" b="1" dirty="0">
                <a:solidFill>
                  <a:srgbClr val="F2B84B"/>
                </a:solidFill>
                <a:latin typeface="Georgia" pitchFamily="18" charset="0"/>
                <a:ea typeface="Georgia" pitchFamily="18" charset="-122"/>
                <a:cs typeface="Georgia" pitchFamily="18" charset="-120"/>
              </a:rPr>
              <a:t>+</a:t>
            </a:r>
            <a:r>
              <a:rPr lang="en-US" sz="2400" b="1" dirty="0">
                <a:solidFill>
                  <a:srgbClr val="F7F6F2"/>
                </a:solidFill>
                <a:latin typeface="Georgia" pitchFamily="18" charset="0"/>
                <a:ea typeface="Georgia" pitchFamily="18" charset="-122"/>
                <a:cs typeface="Georgia" pitchFamily="18" charset="-120"/>
              </a:rPr>
              <a:t> seguridad</a:t>
            </a:r>
            <a:endParaRPr lang="en-US" sz="2400" dirty="0"/>
          </a:p>
        </p:txBody>
      </p:sp>
      <p:sp>
        <p:nvSpPr>
          <p:cNvPr id="23" name="Text 2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7F"/>
                </a:solidFill>
                <a:latin typeface="Arial" pitchFamily="34" charset="0"/>
                <a:ea typeface="Arial" pitchFamily="34" charset="-122"/>
                <a:cs typeface="Arial" pitchFamily="34" charset="-120"/>
              </a:rPr>
              <a:t>Turbine · Análisis de Requisitos</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12 / 12</a:t>
            </a:r>
            <a:endParaRPr lang="en-US" sz="1200" dirty="0"/>
          </a:p>
        </p:txBody>
      </p:sp>
    </p:spTree>
  </p:cSld>
  <p:clrMapOvr>
    <a:masterClrMapping/>
  </p:clrMapOvr>
</p:sld>
</file>

<file path=ppt/theme/theme1.xml><?xml version="1.0" encoding="utf-8"?>
<a:theme xmlns:a="http://schemas.openxmlformats.org/drawingml/2006/main" name="Análisis de Requisitos — Turbine">
  <a:themeElements>
    <a:clrScheme name="Análisis de Requisitos — Turbine">
      <a:dk1>
        <a:srgbClr val="14213D"/>
      </a:dk1>
      <a:lt1>
        <a:srgbClr val="F7F6F2"/>
      </a:lt1>
      <a:dk2>
        <a:srgbClr val="4D566A"/>
      </a:dk2>
      <a:lt2>
        <a:srgbClr val="E0E1E0"/>
      </a:lt2>
      <a:accent1>
        <a:srgbClr val="1D6FA5"/>
      </a:accent1>
      <a:accent2>
        <a:srgbClr val="C2610C"/>
      </a:accent2>
      <a:accent3>
        <a:srgbClr val="2A3E6B"/>
      </a:accent3>
      <a:accent4>
        <a:srgbClr val="F2B84B"/>
      </a:accent4>
      <a:accent5>
        <a:srgbClr val="FCEBD3"/>
      </a:accent5>
      <a:accent6>
        <a:srgbClr val="E08A1E"/>
      </a:accent6>
      <a:hlink>
        <a:srgbClr val="0563C1"/>
      </a:hlink>
      <a:folHlink>
        <a:srgbClr val="954F72"/>
      </a:folHlink>
    </a:clrScheme>
    <a:fontScheme name="Análisis de Requisitos — Turbin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2143</Words>
  <Application>Microsoft Office PowerPoint</Application>
  <PresentationFormat>Panorámica</PresentationFormat>
  <Paragraphs>320</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Georgia</vt:lpstr>
      <vt:lpstr>Análisis de Requisitos — Turbine</vt:lpstr>
      <vt:lpstr>Análisis de Requisitos — Turbine</vt:lpstr>
      <vt:lpstr>Problema y objetivo del sistema</vt:lpstr>
      <vt:lpstr>Clasificación de los requisitos</vt:lpstr>
      <vt:lpstr>Reglas y necesidades de Turbine</vt:lpstr>
      <vt:lpstr>Tres perfiles y sistema de roles</vt:lpstr>
      <vt:lpstr>Clientes y facturación</vt:lpstr>
      <vt:lpstr>Cobros y comunicación</vt:lpstr>
      <vt:lpstr>Control y automatización</vt:lpstr>
      <vt:lpstr>Cómo debe comportarse el sistema</vt:lpstr>
      <vt:lpstr>Trazabilidad: de la necesidad a la funcionalidad</vt:lpstr>
      <vt:lpstr>Flujo general del sistema</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Requisitos — Turbine</dc:title>
  <dc:subject/>
  <dc:creator/>
  <cp:lastModifiedBy>Fernando De La Cruz Martos</cp:lastModifiedBy>
  <cp:revision>2</cp:revision>
  <dcterms:created xsi:type="dcterms:W3CDTF">2026-10-21T09:31:45Z</dcterms:created>
  <dcterms:modified xsi:type="dcterms:W3CDTF">2026-10-21T10:11:46Z</dcterms:modified>
</cp:coreProperties>
</file>